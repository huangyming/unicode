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16766261" r:id="rId5"/>
    <p:sldId id="262" r:id="rId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63"/>
    <p:restoredTop sz="94643"/>
  </p:normalViewPr>
  <p:slideViewPr>
    <p:cSldViewPr snapToGrid="0">
      <p:cViewPr>
        <p:scale>
          <a:sx n="100" d="100"/>
          <a:sy n="100" d="100"/>
        </p:scale>
        <p:origin x="47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B1347-4465-45D5-AEAE-106ABD4D7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686DAF-35ED-0413-4D29-73400569E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3D354B-10DD-9818-8F52-AAF6CA8A35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8AEC6-1FF1-D4DC-9107-77EBE4109FE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885888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www.apdtrefund.hk/en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Qwen/Qwen2.5-VL-32B-Instruc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76F5EE9-DAD1-4A98-A9DD-B0D515057900}"/>
              </a:ext>
            </a:extLst>
          </p:cNvPr>
          <p:cNvSpPr>
            <a:spLocks noGrp="1"/>
          </p:cNvSpPr>
          <p:nvPr/>
        </p:nvSpPr>
        <p:spPr>
          <a:xfrm>
            <a:off x="390525" y="352425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dirty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PROJECT SHARING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3868C0-EF53-4C99-BC31-CA0D5BDEB362}"/>
              </a:ext>
            </a:extLst>
          </p:cNvPr>
          <p:cNvSpPr>
            <a:spLocks noGrp="1"/>
          </p:cNvSpPr>
          <p:nvPr/>
        </p:nvSpPr>
        <p:spPr>
          <a:xfrm>
            <a:off x="284509" y="214934"/>
            <a:ext cx="7239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l">
              <a:defRPr sz="4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Hong Kong Airport</a:t>
            </a:r>
          </a:p>
          <a:p>
            <a:pPr algn="l">
              <a:defRPr sz="4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Tax Refund Project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F031F9-D50A-4D7D-B790-874BB992CAB8}"/>
              </a:ext>
            </a:extLst>
          </p:cNvPr>
          <p:cNvSpPr>
            <a:spLocks noGrp="1"/>
          </p:cNvSpPr>
          <p:nvPr/>
        </p:nvSpPr>
        <p:spPr>
          <a:xfrm>
            <a:off x="9334500" y="39052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July 2026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50110F-33E1-444A-A9FE-078051124E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525" y="213038"/>
            <a:ext cx="2936597" cy="678824"/>
          </a:xfrm>
          <a:prstGeom prst="rect">
            <a:avLst/>
          </a:prstGeom>
        </p:spPr>
      </p:pic>
      <p:pic>
        <p:nvPicPr>
          <p:cNvPr id="12" name="Picture 11">
            <a:hlinkClick r:id="rId4"/>
            <a:extLst>
              <a:ext uri="{FF2B5EF4-FFF2-40B4-BE49-F238E27FC236}">
                <a16:creationId xmlns:a16="http://schemas.microsoft.com/office/drawing/2014/main" id="{3ACE3BD0-3F83-B106-2672-16533F7545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58887"/>
            <a:ext cx="9367138" cy="449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30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76040CE9-897F-402F-99D1-E3E9F320AA01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858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Air Passenger Departure Tax Refund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A6489B-0A2A-4E9B-9313-D006E54DD3AD}"/>
              </a:ext>
            </a:extLst>
          </p:cNvPr>
          <p:cNvSpPr>
            <a:spLocks noGrp="1"/>
          </p:cNvSpPr>
          <p:nvPr/>
        </p:nvSpPr>
        <p:spPr>
          <a:xfrm>
            <a:off x="552450" y="861060"/>
            <a:ext cx="762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Business scope: main eligible and non-eligible APDT refund cases before AI document processing.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825454-6680-40F7-AB86-93EA1033D298}"/>
              </a:ext>
            </a:extLst>
          </p:cNvPr>
          <p:cNvSpPr>
            <a:spLocks noGrp="1"/>
          </p:cNvSpPr>
          <p:nvPr/>
        </p:nvSpPr>
        <p:spPr>
          <a:xfrm>
            <a:off x="545134" y="1146810"/>
            <a:ext cx="914400" cy="47625"/>
          </a:xfrm>
          <a:prstGeom prst="rect">
            <a:avLst/>
          </a:prstGeom>
          <a:solidFill>
            <a:srgbClr val="2475FF"/>
          </a:solidFill>
          <a:ln w="9525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AC504D-0083-4B0C-AAC6-D1561270F032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CC2A88B1-BCA6-501D-910C-8E00AAE6DF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072" y="1851543"/>
            <a:ext cx="5124755" cy="2590534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FA7A8792-9A58-5F5F-4C8F-874C70A59BBF}"/>
              </a:ext>
            </a:extLst>
          </p:cNvPr>
          <p:cNvSpPr>
            <a:spLocks noGrp="1"/>
          </p:cNvSpPr>
          <p:nvPr/>
        </p:nvSpPr>
        <p:spPr>
          <a:xfrm>
            <a:off x="6838763" y="1415481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Main eligible situations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4920898-6861-8E3E-1699-243C547C0F48}"/>
              </a:ext>
            </a:extLst>
          </p:cNvPr>
          <p:cNvSpPr>
            <a:spLocks noGrp="1"/>
          </p:cNvSpPr>
          <p:nvPr/>
        </p:nvSpPr>
        <p:spPr>
          <a:xfrm>
            <a:off x="545134" y="1375028"/>
            <a:ext cx="4244035" cy="4922902"/>
          </a:xfrm>
          <a:prstGeom prst="rect">
            <a:avLst/>
          </a:prstGeom>
          <a:solidFill>
            <a:srgbClr val="EEF5FF"/>
          </a:solidFill>
          <a:ln w="19050">
            <a:solidFill>
              <a:srgbClr val="247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848468D-DA12-157D-6149-461A2D43B92F}"/>
              </a:ext>
            </a:extLst>
          </p:cNvPr>
          <p:cNvSpPr>
            <a:spLocks noGrp="1"/>
          </p:cNvSpPr>
          <p:nvPr/>
        </p:nvSpPr>
        <p:spPr>
          <a:xfrm>
            <a:off x="834979" y="1521780"/>
            <a:ext cx="2841209" cy="3589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APDT baseline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F21D026-CE0F-C92A-7255-28D0993CC6A8}"/>
              </a:ext>
            </a:extLst>
          </p:cNvPr>
          <p:cNvSpPr>
            <a:spLocks noGrp="1"/>
          </p:cNvSpPr>
          <p:nvPr/>
        </p:nvSpPr>
        <p:spPr>
          <a:xfrm>
            <a:off x="838200" y="1964054"/>
            <a:ext cx="103316" cy="95707"/>
          </a:xfrm>
          <a:prstGeom prst="ellipse">
            <a:avLst/>
          </a:prstGeom>
          <a:solidFill>
            <a:srgbClr val="2475FF"/>
          </a:solidFill>
          <a:ln w="9525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FA9DEAD-6CA5-07D4-BE8E-2A0EE61A030D}"/>
              </a:ext>
            </a:extLst>
          </p:cNvPr>
          <p:cNvSpPr>
            <a:spLocks noGrp="1"/>
          </p:cNvSpPr>
          <p:nvPr/>
        </p:nvSpPr>
        <p:spPr>
          <a:xfrm>
            <a:off x="1009650" y="1887473"/>
            <a:ext cx="2453772" cy="4515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389"/>
          </a:bodyPr>
          <a:lstStyle/>
          <a:p>
            <a:pPr algn="l">
              <a:defRPr sz="1125" b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Tax is paid with eligible air tickets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E6A91AB-73D8-C2C5-5CE6-6357F2E6A096}"/>
              </a:ext>
            </a:extLst>
          </p:cNvPr>
          <p:cNvSpPr>
            <a:spLocks noGrp="1"/>
          </p:cNvSpPr>
          <p:nvPr/>
        </p:nvSpPr>
        <p:spPr>
          <a:xfrm>
            <a:off x="838199" y="2405709"/>
            <a:ext cx="103316" cy="95707"/>
          </a:xfrm>
          <a:prstGeom prst="ellipse">
            <a:avLst/>
          </a:prstGeom>
          <a:solidFill>
            <a:srgbClr val="2475FF"/>
          </a:solidFill>
          <a:ln w="9525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4A806E5-49D7-9C75-9E57-653579DBCF5E}"/>
              </a:ext>
            </a:extLst>
          </p:cNvPr>
          <p:cNvSpPr>
            <a:spLocks noGrp="1"/>
          </p:cNvSpPr>
          <p:nvPr/>
        </p:nvSpPr>
        <p:spPr>
          <a:xfrm>
            <a:off x="1028698" y="2339034"/>
            <a:ext cx="2453772" cy="3828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389" lnSpcReduction="10000"/>
          </a:bodyPr>
          <a:lstStyle/>
          <a:p>
            <a:pPr algn="l">
              <a:defRPr sz="1125" b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Refund outcome depends on trip path and proof documents</a:t>
            </a:r>
          </a:p>
        </p:txBody>
      </p:sp>
      <p:pic>
        <p:nvPicPr>
          <p:cNvPr id="62" name="Picture 61" descr="Cathay Pacific Opens New Lounge At Shenzhen's Shekou Ferry Terminal,  Departing To HKG Airport - LoyaltyLobby">
            <a:extLst>
              <a:ext uri="{FF2B5EF4-FFF2-40B4-BE49-F238E27FC236}">
                <a16:creationId xmlns:a16="http://schemas.microsoft.com/office/drawing/2014/main" id="{3B2F48FD-D0F4-8E4C-6C1B-43DE1BEEF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609" y="2925009"/>
            <a:ext cx="3660900" cy="2863152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7D65AC35-8EEC-6E0D-94EE-583B744A8EBE}"/>
              </a:ext>
            </a:extLst>
          </p:cNvPr>
          <p:cNvSpPr>
            <a:spLocks noGrp="1"/>
          </p:cNvSpPr>
          <p:nvPr/>
        </p:nvSpPr>
        <p:spPr>
          <a:xfrm>
            <a:off x="6930203" y="4514784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HK" sz="1875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documents</a:t>
            </a:r>
            <a:endParaRPr sz="1875" b="1" dirty="0">
              <a:solidFill>
                <a:srgbClr val="111827"/>
              </a:solidFill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FBAB3E1A-D214-81E1-00FB-36796468C7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613" y="4849631"/>
            <a:ext cx="5003800" cy="1282700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E9A46C64-A256-44DC-75AE-86171AF00DC1}"/>
              </a:ext>
            </a:extLst>
          </p:cNvPr>
          <p:cNvSpPr>
            <a:spLocks noGrp="1"/>
          </p:cNvSpPr>
          <p:nvPr/>
        </p:nvSpPr>
        <p:spPr>
          <a:xfrm>
            <a:off x="552450" y="6377882"/>
            <a:ext cx="10363200" cy="438150"/>
          </a:xfrm>
          <a:prstGeom prst="rect">
            <a:avLst/>
          </a:prstGeom>
          <a:solidFill>
            <a:srgbClr val="171B33"/>
          </a:solidFill>
          <a:ln w="9525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E927A77-4E82-E55E-4EFC-1013081E8503}"/>
              </a:ext>
            </a:extLst>
          </p:cNvPr>
          <p:cNvSpPr>
            <a:spLocks noGrp="1"/>
          </p:cNvSpPr>
          <p:nvPr/>
        </p:nvSpPr>
        <p:spPr>
          <a:xfrm>
            <a:off x="838200" y="6501707"/>
            <a:ext cx="9791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93" lnSpcReduction="10000"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AI models help read trip proofs, tickets, receipts, forms, dates, and scenario evidence for eligibility decisions.</a:t>
            </a:r>
          </a:p>
        </p:txBody>
      </p:sp>
    </p:spTree>
    <p:extLst>
      <p:ext uri="{BB962C8B-B14F-4D97-AF65-F5344CB8AC3E}">
        <p14:creationId xmlns:p14="http://schemas.microsoft.com/office/powerpoint/2010/main" val="1583282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63964D79-D11D-B8F3-6BDC-4CCE360B8BD3}"/>
              </a:ext>
            </a:extLst>
          </p:cNvPr>
          <p:cNvSpPr>
            <a:spLocks noGrp="1"/>
          </p:cNvSpPr>
          <p:nvPr/>
        </p:nvSpPr>
        <p:spPr>
          <a:xfrm>
            <a:off x="6201252" y="4330065"/>
            <a:ext cx="2180272" cy="1066800"/>
          </a:xfrm>
          <a:prstGeom prst="rect">
            <a:avLst/>
          </a:prstGeom>
          <a:solidFill>
            <a:srgbClr val="F6F8FC"/>
          </a:solidFill>
          <a:ln w="9525">
            <a:solidFill>
              <a:srgbClr val="D6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8DB53D5-4FEF-C207-EE35-C7EA0E58145A}"/>
              </a:ext>
            </a:extLst>
          </p:cNvPr>
          <p:cNvSpPr>
            <a:spLocks noGrp="1"/>
          </p:cNvSpPr>
          <p:nvPr/>
        </p:nvSpPr>
        <p:spPr>
          <a:xfrm>
            <a:off x="8887778" y="2314531"/>
            <a:ext cx="2180272" cy="1066800"/>
          </a:xfrm>
          <a:prstGeom prst="rect">
            <a:avLst/>
          </a:prstGeom>
          <a:solidFill>
            <a:srgbClr val="F6F8FC"/>
          </a:solidFill>
          <a:ln w="9525">
            <a:solidFill>
              <a:srgbClr val="D6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3B078E8-D71A-1451-4E7B-A7D71EF5AE69}"/>
              </a:ext>
            </a:extLst>
          </p:cNvPr>
          <p:cNvSpPr>
            <a:spLocks noGrp="1"/>
          </p:cNvSpPr>
          <p:nvPr/>
        </p:nvSpPr>
        <p:spPr>
          <a:xfrm>
            <a:off x="3376614" y="2331719"/>
            <a:ext cx="2180272" cy="1066800"/>
          </a:xfrm>
          <a:prstGeom prst="rect">
            <a:avLst/>
          </a:prstGeom>
          <a:solidFill>
            <a:srgbClr val="F6F8FC"/>
          </a:solidFill>
          <a:ln w="9525">
            <a:solidFill>
              <a:srgbClr val="D6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A2A6331-9E08-4FC5-929C-A91A8A991EC5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858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Document Processing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D809D7-B5E1-4E25-AD14-C49CB404A30E}"/>
              </a:ext>
            </a:extLst>
          </p:cNvPr>
          <p:cNvSpPr>
            <a:spLocks noGrp="1"/>
          </p:cNvSpPr>
          <p:nvPr/>
        </p:nvSpPr>
        <p:spPr>
          <a:xfrm>
            <a:off x="552450" y="952501"/>
            <a:ext cx="914400" cy="47625"/>
          </a:xfrm>
          <a:prstGeom prst="rect">
            <a:avLst/>
          </a:prstGeom>
          <a:solidFill>
            <a:srgbClr val="2475FF"/>
          </a:solidFill>
          <a:ln w="9525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12B040-DF3A-4DCF-8433-8273038C4170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4DA02A-4CB3-4E91-B4EF-A1477E9313BA}"/>
              </a:ext>
            </a:extLst>
          </p:cNvPr>
          <p:cNvSpPr>
            <a:spLocks noGrp="1"/>
          </p:cNvSpPr>
          <p:nvPr/>
        </p:nvSpPr>
        <p:spPr>
          <a:xfrm>
            <a:off x="666750" y="2266951"/>
            <a:ext cx="1752600" cy="1066800"/>
          </a:xfrm>
          <a:prstGeom prst="rect">
            <a:avLst/>
          </a:prstGeom>
          <a:solidFill>
            <a:srgbClr val="F6F8FC"/>
          </a:solidFill>
          <a:ln w="9525">
            <a:solidFill>
              <a:srgbClr val="D6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C4F8D8-ADDF-48D2-9EB0-C44D8C02062B}"/>
              </a:ext>
            </a:extLst>
          </p:cNvPr>
          <p:cNvSpPr>
            <a:spLocks noGrp="1"/>
          </p:cNvSpPr>
          <p:nvPr/>
        </p:nvSpPr>
        <p:spPr>
          <a:xfrm>
            <a:off x="895350" y="2600325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247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475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7FECFB-3EBD-48C7-A0CC-CB81A9681A82}"/>
              </a:ext>
            </a:extLst>
          </p:cNvPr>
          <p:cNvSpPr>
            <a:spLocks noGrp="1"/>
          </p:cNvSpPr>
          <p:nvPr/>
        </p:nvSpPr>
        <p:spPr>
          <a:xfrm>
            <a:off x="1181099" y="2428874"/>
            <a:ext cx="1095375" cy="3238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Upload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B34B8E-1EC9-490E-A9A6-22241DD6DC72}"/>
              </a:ext>
            </a:extLst>
          </p:cNvPr>
          <p:cNvSpPr>
            <a:spLocks noGrp="1"/>
          </p:cNvSpPr>
          <p:nvPr/>
        </p:nvSpPr>
        <p:spPr>
          <a:xfrm>
            <a:off x="1181099" y="2835400"/>
            <a:ext cx="819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00"/>
          </a:bodyPr>
          <a:lstStyle/>
          <a:p>
            <a:pPr algn="l">
              <a:defRPr sz="1050" b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Image / PDF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78DA77-5A41-4682-BBFD-1BE45AB4B985}"/>
              </a:ext>
            </a:extLst>
          </p:cNvPr>
          <p:cNvSpPr>
            <a:spLocks noGrp="1"/>
          </p:cNvSpPr>
          <p:nvPr/>
        </p:nvSpPr>
        <p:spPr>
          <a:xfrm>
            <a:off x="3467100" y="262509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247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dirty="0">
                <a:solidFill>
                  <a:srgbClr val="2475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99B660-5E55-42BE-8CA6-83AFD263E0A3}"/>
              </a:ext>
            </a:extLst>
          </p:cNvPr>
          <p:cNvSpPr>
            <a:spLocks noGrp="1"/>
          </p:cNvSpPr>
          <p:nvPr/>
        </p:nvSpPr>
        <p:spPr>
          <a:xfrm>
            <a:off x="3715942" y="2462212"/>
            <a:ext cx="1785460" cy="5048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 dirty="0" err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PaddleOCR</a:t>
            </a:r>
            <a:endParaRPr sz="2000" b="1" dirty="0">
              <a:solidFill>
                <a:srgbClr val="11182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E48412-9D01-42A0-8D2D-25451E3363EB}"/>
              </a:ext>
            </a:extLst>
          </p:cNvPr>
          <p:cNvSpPr>
            <a:spLocks noGrp="1"/>
          </p:cNvSpPr>
          <p:nvPr/>
        </p:nvSpPr>
        <p:spPr>
          <a:xfrm>
            <a:off x="3704270" y="2891790"/>
            <a:ext cx="169807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325"/>
          </a:bodyPr>
          <a:lstStyle/>
          <a:p>
            <a:pPr algn="l">
              <a:defRPr sz="1050" b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Small-model first pass</a:t>
            </a:r>
            <a:r>
              <a:rPr lang="zh-CN" altLang="en-US" sz="1050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050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text</a:t>
            </a:r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C7EDD78A-4C4E-4CB7-B070-AA9888B47DB3}"/>
              </a:ext>
            </a:extLst>
          </p:cNvPr>
          <p:cNvSpPr>
            <a:spLocks noGrp="1"/>
          </p:cNvSpPr>
          <p:nvPr/>
        </p:nvSpPr>
        <p:spPr>
          <a:xfrm>
            <a:off x="6381750" y="2266950"/>
            <a:ext cx="1381125" cy="1162050"/>
          </a:xfrm>
          <a:prstGeom prst="diamond">
            <a:avLst/>
          </a:prstGeom>
          <a:solidFill>
            <a:srgbClr val="FFF6E8"/>
          </a:solidFill>
          <a:ln w="19050">
            <a:solidFill>
              <a:srgbClr val="FF8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AF36B6-7D72-4A67-82B6-2F2A0AAF369F}"/>
              </a:ext>
            </a:extLst>
          </p:cNvPr>
          <p:cNvSpPr>
            <a:spLocks noGrp="1"/>
          </p:cNvSpPr>
          <p:nvPr/>
        </p:nvSpPr>
        <p:spPr>
          <a:xfrm>
            <a:off x="6572250" y="2667000"/>
            <a:ext cx="990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833" lnSpcReduction="10000"/>
          </a:bodyPr>
          <a:lstStyle/>
          <a:p>
            <a:pPr algn="ctr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Confidence</a:t>
            </a:r>
          </a:p>
          <a:p>
            <a:pPr algn="ctr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check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38B16A-5E07-4C71-B5AD-AF16C3570168}"/>
              </a:ext>
            </a:extLst>
          </p:cNvPr>
          <p:cNvSpPr>
            <a:spLocks noGrp="1"/>
          </p:cNvSpPr>
          <p:nvPr/>
        </p:nvSpPr>
        <p:spPr>
          <a:xfrm>
            <a:off x="8035291" y="2428874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1">
                <a:solidFill>
                  <a:srgbClr val="247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 dirty="0">
                <a:solidFill>
                  <a:srgbClr val="2475FF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77CCA02-1DC5-42C7-890F-F093086D436E}"/>
              </a:ext>
            </a:extLst>
          </p:cNvPr>
          <p:cNvSpPr>
            <a:spLocks noGrp="1"/>
          </p:cNvSpPr>
          <p:nvPr/>
        </p:nvSpPr>
        <p:spPr>
          <a:xfrm>
            <a:off x="7943851" y="2495549"/>
            <a:ext cx="8001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defRPr sz="2100" b="0">
                <a:solidFill>
                  <a:srgbClr val="247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 dirty="0">
                <a:solidFill>
                  <a:srgbClr val="2475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165E65-38E2-4AE3-94CB-A5BB8439A8F8}"/>
              </a:ext>
            </a:extLst>
          </p:cNvPr>
          <p:cNvSpPr>
            <a:spLocks noGrp="1"/>
          </p:cNvSpPr>
          <p:nvPr/>
        </p:nvSpPr>
        <p:spPr>
          <a:xfrm>
            <a:off x="9048750" y="26003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247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dirty="0">
                <a:solidFill>
                  <a:srgbClr val="2475FF"/>
                </a:solidFill>
                <a:latin typeface="Helvetica Neue"/>
                <a:ea typeface="Helvetica Neue"/>
                <a:cs typeface="Helvetica Neue"/>
              </a:rPr>
              <a:t>4A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3347F1-8390-4B44-9208-C7B34F222F29}"/>
              </a:ext>
            </a:extLst>
          </p:cNvPr>
          <p:cNvSpPr>
            <a:spLocks noGrp="1"/>
          </p:cNvSpPr>
          <p:nvPr/>
        </p:nvSpPr>
        <p:spPr>
          <a:xfrm>
            <a:off x="9467850" y="2533649"/>
            <a:ext cx="1095375" cy="4000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HK" sz="2000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Validate</a:t>
            </a:r>
            <a:endParaRPr sz="2000" b="1" dirty="0">
              <a:solidFill>
                <a:srgbClr val="11182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28ECE1-67B0-4A66-8D6C-90B8F627FC4F}"/>
              </a:ext>
            </a:extLst>
          </p:cNvPr>
          <p:cNvSpPr>
            <a:spLocks noGrp="1"/>
          </p:cNvSpPr>
          <p:nvPr/>
        </p:nvSpPr>
        <p:spPr>
          <a:xfrm>
            <a:off x="9519286" y="2912744"/>
            <a:ext cx="819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field rules</a:t>
            </a:r>
          </a:p>
          <a:p>
            <a:pPr algn="l">
              <a:defRPr sz="1050" b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JSON output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99457C-64B0-4457-8A49-4BA5E3D0CF65}"/>
              </a:ext>
            </a:extLst>
          </p:cNvPr>
          <p:cNvSpPr>
            <a:spLocks noGrp="1"/>
          </p:cNvSpPr>
          <p:nvPr/>
        </p:nvSpPr>
        <p:spPr>
          <a:xfrm>
            <a:off x="6701790" y="4528140"/>
            <a:ext cx="1722120" cy="2819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QwenVL2.5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A81C173-BD22-4A7D-B845-89F4113212DC}"/>
              </a:ext>
            </a:extLst>
          </p:cNvPr>
          <p:cNvSpPr>
            <a:spLocks noGrp="1"/>
          </p:cNvSpPr>
          <p:nvPr/>
        </p:nvSpPr>
        <p:spPr>
          <a:xfrm>
            <a:off x="6701790" y="4964430"/>
            <a:ext cx="1333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3861" lnSpcReduction="10000"/>
          </a:bodyPr>
          <a:lstStyle/>
          <a:p>
            <a:pPr algn="l">
              <a:defRPr sz="1050" b="0">
                <a:solidFill>
                  <a:srgbClr val="DCE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"/>
                <a:ea typeface="Helvetica Neue"/>
                <a:cs typeface="Helvetica Neue"/>
              </a:rPr>
              <a:t>Fallback for hard layouts</a:t>
            </a:r>
          </a:p>
          <a:p>
            <a:pPr algn="l">
              <a:defRPr sz="1050" b="0">
                <a:solidFill>
                  <a:srgbClr val="DCE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"/>
                <a:ea typeface="Helvetica Neue"/>
                <a:cs typeface="Helvetica Neue"/>
              </a:rPr>
              <a:t>and missing fields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289DE2-647D-4DE3-8618-148AB4E5F065}"/>
              </a:ext>
            </a:extLst>
          </p:cNvPr>
          <p:cNvSpPr>
            <a:spLocks noGrp="1"/>
          </p:cNvSpPr>
          <p:nvPr/>
        </p:nvSpPr>
        <p:spPr>
          <a:xfrm>
            <a:off x="8511540" y="4561479"/>
            <a:ext cx="704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1">
                <a:solidFill>
                  <a:srgbClr val="FF8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 dirty="0">
                <a:solidFill>
                  <a:srgbClr val="FF8A2A"/>
                </a:solidFill>
                <a:latin typeface="Helvetica Neue"/>
                <a:ea typeface="Helvetica Neue"/>
                <a:cs typeface="Helvetica Neue"/>
              </a:rPr>
              <a:t>still fail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5849888-0D12-4E4C-8667-9056F076B69F}"/>
              </a:ext>
            </a:extLst>
          </p:cNvPr>
          <p:cNvSpPr>
            <a:spLocks noGrp="1"/>
          </p:cNvSpPr>
          <p:nvPr/>
        </p:nvSpPr>
        <p:spPr>
          <a:xfrm>
            <a:off x="9525000" y="4333875"/>
            <a:ext cx="1952625" cy="1123950"/>
          </a:xfrm>
          <a:prstGeom prst="rect">
            <a:avLst/>
          </a:prstGeom>
          <a:solidFill>
            <a:srgbClr val="FFF6E8"/>
          </a:solidFill>
          <a:ln w="19050">
            <a:solidFill>
              <a:srgbClr val="FF8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28D41F1-73E5-4B78-BCBD-2B16CF00E307}"/>
              </a:ext>
            </a:extLst>
          </p:cNvPr>
          <p:cNvSpPr>
            <a:spLocks noGrp="1"/>
          </p:cNvSpPr>
          <p:nvPr/>
        </p:nvSpPr>
        <p:spPr>
          <a:xfrm>
            <a:off x="9637158" y="4763409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FF8A2A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altLang="zh-CN" sz="1350" b="1" dirty="0">
                <a:solidFill>
                  <a:schemeClr val="accent4"/>
                </a:solidFill>
                <a:latin typeface="Helvetica Neue"/>
                <a:ea typeface="Helvetica Neue"/>
                <a:cs typeface="Helvetica Neue"/>
              </a:rPr>
              <a:t>4</a:t>
            </a:r>
            <a:endParaRPr sz="1350" b="1" dirty="0">
              <a:solidFill>
                <a:schemeClr val="accent4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11B5E54-04A4-48AF-B497-DDE9F7EC4B9C}"/>
              </a:ext>
            </a:extLst>
          </p:cNvPr>
          <p:cNvSpPr>
            <a:spLocks noGrp="1"/>
          </p:cNvSpPr>
          <p:nvPr/>
        </p:nvSpPr>
        <p:spPr>
          <a:xfrm>
            <a:off x="9977914" y="4612979"/>
            <a:ext cx="1285875" cy="5657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HK" sz="2000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Human</a:t>
            </a:r>
            <a:r>
              <a:rPr sz="2000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 review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FF9CFA7-853C-4070-AE73-6079AE8674E7}"/>
              </a:ext>
            </a:extLst>
          </p:cNvPr>
          <p:cNvSpPr>
            <a:spLocks noGrp="1"/>
          </p:cNvSpPr>
          <p:nvPr/>
        </p:nvSpPr>
        <p:spPr>
          <a:xfrm>
            <a:off x="857250" y="5857875"/>
            <a:ext cx="10477500" cy="400050"/>
          </a:xfrm>
          <a:prstGeom prst="rect">
            <a:avLst/>
          </a:prstGeom>
          <a:solidFill>
            <a:srgbClr val="171B33"/>
          </a:solidFill>
          <a:ln w="9525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301932-C4EC-4FF7-9FBD-7133232F46EA}"/>
              </a:ext>
            </a:extLst>
          </p:cNvPr>
          <p:cNvSpPr>
            <a:spLocks noGrp="1"/>
          </p:cNvSpPr>
          <p:nvPr/>
        </p:nvSpPr>
        <p:spPr>
          <a:xfrm>
            <a:off x="1123950" y="5972175"/>
            <a:ext cx="9944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833" lnSpcReduction="10000"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Route easy documents through OCR first; reserve QwenVL2.5 capacity for ambiguous cases.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C973B08-65E0-7C92-A81D-1A101FA9D921}"/>
              </a:ext>
            </a:extLst>
          </p:cNvPr>
          <p:cNvSpPr>
            <a:spLocks noGrp="1"/>
          </p:cNvSpPr>
          <p:nvPr/>
        </p:nvSpPr>
        <p:spPr>
          <a:xfrm>
            <a:off x="5457824" y="2499359"/>
            <a:ext cx="8001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defRPr sz="2100" b="0">
                <a:solidFill>
                  <a:srgbClr val="247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 dirty="0">
                <a:solidFill>
                  <a:srgbClr val="2475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7202C3A-806D-E7C9-C6EB-4D413CCC39C1}"/>
              </a:ext>
            </a:extLst>
          </p:cNvPr>
          <p:cNvSpPr>
            <a:spLocks noGrp="1"/>
          </p:cNvSpPr>
          <p:nvPr/>
        </p:nvSpPr>
        <p:spPr>
          <a:xfrm>
            <a:off x="2395538" y="2491737"/>
            <a:ext cx="8001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defRPr sz="2100" b="0">
                <a:solidFill>
                  <a:srgbClr val="247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 dirty="0">
                <a:solidFill>
                  <a:srgbClr val="2475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7980089-C5D3-5A69-5FE6-460D84839C2D}"/>
              </a:ext>
            </a:extLst>
          </p:cNvPr>
          <p:cNvSpPr>
            <a:spLocks noGrp="1"/>
          </p:cNvSpPr>
          <p:nvPr/>
        </p:nvSpPr>
        <p:spPr>
          <a:xfrm rot="5400000">
            <a:off x="6696074" y="3517583"/>
            <a:ext cx="8001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defRPr sz="2100" b="0">
                <a:solidFill>
                  <a:srgbClr val="247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 dirty="0">
                <a:solidFill>
                  <a:srgbClr val="2475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144D06D-F1CA-4221-341F-3134DC68BE62}"/>
              </a:ext>
            </a:extLst>
          </p:cNvPr>
          <p:cNvSpPr txBox="1"/>
          <p:nvPr/>
        </p:nvSpPr>
        <p:spPr>
          <a:xfrm>
            <a:off x="6976467" y="3609796"/>
            <a:ext cx="12442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475F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600" b="1" dirty="0">
                <a:solidFill>
                  <a:srgbClr val="2475FF"/>
                </a:solidFill>
                <a:latin typeface="Helvetica Neue"/>
                <a:ea typeface="Helvetica Neue"/>
                <a:cs typeface="Helvetica Neue"/>
              </a:rPr>
              <a:t>Not</a:t>
            </a:r>
            <a:r>
              <a:rPr lang="zh-CN" altLang="en-US" sz="1600" b="1" dirty="0">
                <a:solidFill>
                  <a:srgbClr val="2475FF"/>
                </a:solidFill>
                <a:latin typeface="Helvetica Neue"/>
                <a:cs typeface="Helvetica Neue"/>
              </a:rPr>
              <a:t> </a:t>
            </a:r>
            <a:r>
              <a:rPr lang="en-US" altLang="zh-CN" sz="1600" b="1" dirty="0">
                <a:solidFill>
                  <a:srgbClr val="2475FF"/>
                </a:solidFill>
                <a:latin typeface="Helvetica Neue"/>
                <a:ea typeface="Helvetica Neue"/>
                <a:cs typeface="Helvetica Neue"/>
              </a:rPr>
              <a:t>Pass</a:t>
            </a:r>
            <a:endParaRPr lang="en-US" sz="1600" b="1" dirty="0">
              <a:solidFill>
                <a:srgbClr val="2475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119676A-505C-D502-C721-1E633BD793D8}"/>
              </a:ext>
            </a:extLst>
          </p:cNvPr>
          <p:cNvSpPr>
            <a:spLocks noGrp="1"/>
          </p:cNvSpPr>
          <p:nvPr/>
        </p:nvSpPr>
        <p:spPr>
          <a:xfrm>
            <a:off x="8511540" y="4585291"/>
            <a:ext cx="8001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defRPr sz="2100" b="0">
                <a:solidFill>
                  <a:srgbClr val="247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 dirty="0">
                <a:solidFill>
                  <a:srgbClr val="2475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374F378-6511-878E-C045-33BF230C6E76}"/>
              </a:ext>
            </a:extLst>
          </p:cNvPr>
          <p:cNvSpPr>
            <a:spLocks noGrp="1"/>
          </p:cNvSpPr>
          <p:nvPr/>
        </p:nvSpPr>
        <p:spPr>
          <a:xfrm>
            <a:off x="6355556" y="473583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2475F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altLang="zh-CN" sz="1350" b="1" dirty="0">
                <a:solidFill>
                  <a:srgbClr val="2475FF"/>
                </a:solidFill>
                <a:latin typeface="Helvetica Neue"/>
                <a:ea typeface="Helvetica Neue"/>
                <a:cs typeface="Helvetica Neue"/>
              </a:rPr>
              <a:t>3</a:t>
            </a:r>
            <a:endParaRPr sz="1350" b="1" dirty="0">
              <a:solidFill>
                <a:srgbClr val="2475FF"/>
              </a:solidFill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54" name="Picture 53" descr="Baidu Logo and symbol, meaning, history, PNG, brand">
            <a:extLst>
              <a:ext uri="{FF2B5EF4-FFF2-40B4-BE49-F238E27FC236}">
                <a16:creationId xmlns:a16="http://schemas.microsoft.com/office/drawing/2014/main" id="{9A6852A3-6F1F-6FDD-3952-90ECD59FA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847" y="1914714"/>
            <a:ext cx="1009015" cy="605409"/>
          </a:xfrm>
          <a:prstGeom prst="rect">
            <a:avLst/>
          </a:prstGeom>
        </p:spPr>
      </p:pic>
      <p:pic>
        <p:nvPicPr>
          <p:cNvPr id="55" name="Graphic 54" descr="通義千問- 維基百科，自由的百科全書">
            <a:extLst>
              <a:ext uri="{FF2B5EF4-FFF2-40B4-BE49-F238E27FC236}">
                <a16:creationId xmlns:a16="http://schemas.microsoft.com/office/drawing/2014/main" id="{1DBB4626-55C7-CB79-EF1F-C01578BAFB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90511" y="3948350"/>
            <a:ext cx="755809" cy="75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536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38566-8C7D-60F9-C3BE-4FE79C697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E2C4F1D1-D383-DDE5-3550-528AB2A9A32B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858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HK" sz="2775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AI</a:t>
            </a:r>
            <a:r>
              <a:rPr lang="zh-CN" altLang="en-US" sz="2775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en-US" altLang="zh-CN" sz="2775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Infrastructure</a:t>
            </a:r>
            <a:endParaRPr sz="2775" b="1" dirty="0">
              <a:solidFill>
                <a:srgbClr val="11182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E96BC5-F3D4-F44D-6F42-A981473F2706}"/>
              </a:ext>
            </a:extLst>
          </p:cNvPr>
          <p:cNvSpPr>
            <a:spLocks noGrp="1"/>
          </p:cNvSpPr>
          <p:nvPr/>
        </p:nvSpPr>
        <p:spPr>
          <a:xfrm>
            <a:off x="552450" y="952501"/>
            <a:ext cx="914400" cy="47625"/>
          </a:xfrm>
          <a:prstGeom prst="rect">
            <a:avLst/>
          </a:prstGeom>
          <a:solidFill>
            <a:srgbClr val="2475FF"/>
          </a:solidFill>
          <a:ln w="9525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E6A474-39A4-FD68-B26A-683C70284026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pic>
        <p:nvPicPr>
          <p:cNvPr id="44" name="图片 1">
            <a:extLst>
              <a:ext uri="{FF2B5EF4-FFF2-40B4-BE49-F238E27FC236}">
                <a16:creationId xmlns:a16="http://schemas.microsoft.com/office/drawing/2014/main" id="{F70E8B31-6CEB-EC39-89ED-393D6D0FA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012" y="1107372"/>
            <a:ext cx="6819381" cy="4915365"/>
          </a:xfrm>
          <a:prstGeom prst="rect">
            <a:avLst/>
          </a:prstGeom>
        </p:spPr>
      </p:pic>
      <p:sp>
        <p:nvSpPr>
          <p:cNvPr id="49" name="圆角矩形 2">
            <a:extLst>
              <a:ext uri="{FF2B5EF4-FFF2-40B4-BE49-F238E27FC236}">
                <a16:creationId xmlns:a16="http://schemas.microsoft.com/office/drawing/2014/main" id="{E7C0A192-3614-3E35-0B4A-BB40922272AE}"/>
              </a:ext>
            </a:extLst>
          </p:cNvPr>
          <p:cNvSpPr/>
          <p:nvPr/>
        </p:nvSpPr>
        <p:spPr>
          <a:xfrm>
            <a:off x="4942896" y="526470"/>
            <a:ext cx="3083503" cy="58090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168.106.0.0/16</a:t>
            </a:r>
          </a:p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172.16.0.0/12</a:t>
            </a:r>
            <a:endParaRPr lang="zh-CN" alt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3">
            <a:extLst>
              <a:ext uri="{FF2B5EF4-FFF2-40B4-BE49-F238E27FC236}">
                <a16:creationId xmlns:a16="http://schemas.microsoft.com/office/drawing/2014/main" id="{1F94C1BF-FBDC-13B6-65C7-BF486CC86467}"/>
              </a:ext>
            </a:extLst>
          </p:cNvPr>
          <p:cNvSpPr txBox="1"/>
          <p:nvPr/>
        </p:nvSpPr>
        <p:spPr>
          <a:xfrm>
            <a:off x="5289553" y="1688274"/>
            <a:ext cx="10711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103.107.91.34/29</a:t>
            </a:r>
          </a:p>
          <a:p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GW:103.107.91.33</a:t>
            </a:r>
            <a:endParaRPr lang="zh-CN" altLang="en-US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4">
            <a:extLst>
              <a:ext uri="{FF2B5EF4-FFF2-40B4-BE49-F238E27FC236}">
                <a16:creationId xmlns:a16="http://schemas.microsoft.com/office/drawing/2014/main" id="{434DE497-4D8C-B215-B764-C00CC3B5E4EB}"/>
              </a:ext>
            </a:extLst>
          </p:cNvPr>
          <p:cNvSpPr txBox="1"/>
          <p:nvPr/>
        </p:nvSpPr>
        <p:spPr>
          <a:xfrm>
            <a:off x="7547367" y="1782371"/>
            <a:ext cx="4331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E1/1</a:t>
            </a:r>
            <a:endParaRPr lang="zh-CN" altLang="en-US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矩形 5">
            <a:extLst>
              <a:ext uri="{FF2B5EF4-FFF2-40B4-BE49-F238E27FC236}">
                <a16:creationId xmlns:a16="http://schemas.microsoft.com/office/drawing/2014/main" id="{7FFCA107-20C1-4B68-B602-9B89F04AD599}"/>
              </a:ext>
            </a:extLst>
          </p:cNvPr>
          <p:cNvSpPr/>
          <p:nvPr/>
        </p:nvSpPr>
        <p:spPr>
          <a:xfrm>
            <a:off x="5250222" y="1074657"/>
            <a:ext cx="86594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168.106.22.30</a:t>
            </a:r>
            <a:endParaRPr lang="zh-CN" altLang="en-US" sz="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圆角矩形 6">
            <a:extLst>
              <a:ext uri="{FF2B5EF4-FFF2-40B4-BE49-F238E27FC236}">
                <a16:creationId xmlns:a16="http://schemas.microsoft.com/office/drawing/2014/main" id="{9F998DE8-A385-BA3D-3C79-0453728B76E4}"/>
              </a:ext>
            </a:extLst>
          </p:cNvPr>
          <p:cNvSpPr/>
          <p:nvPr/>
        </p:nvSpPr>
        <p:spPr>
          <a:xfrm>
            <a:off x="10198100" y="526470"/>
            <a:ext cx="1409700" cy="58090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168.106.0.0/16</a:t>
            </a:r>
          </a:p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172.16.0.0/12</a:t>
            </a:r>
            <a:endParaRPr lang="zh-CN" alt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7">
            <a:extLst>
              <a:ext uri="{FF2B5EF4-FFF2-40B4-BE49-F238E27FC236}">
                <a16:creationId xmlns:a16="http://schemas.microsoft.com/office/drawing/2014/main" id="{81C72CA8-D680-0260-0269-61A9962ABED8}"/>
              </a:ext>
            </a:extLst>
          </p:cNvPr>
          <p:cNvSpPr txBox="1"/>
          <p:nvPr/>
        </p:nvSpPr>
        <p:spPr>
          <a:xfrm>
            <a:off x="5427411" y="5984904"/>
            <a:ext cx="2336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172.16.10.146/29      172.16.10.147/29</a:t>
            </a:r>
          </a:p>
          <a:p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GW:172.16.10.145     </a:t>
            </a:r>
            <a:r>
              <a:rPr lang="en-US" altLang="zh-CN" sz="9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GW:172.16.10.145</a:t>
            </a:r>
            <a:endParaRPr lang="zh-CN" altLang="en-US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8">
            <a:extLst>
              <a:ext uri="{FF2B5EF4-FFF2-40B4-BE49-F238E27FC236}">
                <a16:creationId xmlns:a16="http://schemas.microsoft.com/office/drawing/2014/main" id="{898FE395-824C-AA05-CE03-06605E4FC9CE}"/>
              </a:ext>
            </a:extLst>
          </p:cNvPr>
          <p:cNvSpPr txBox="1"/>
          <p:nvPr/>
        </p:nvSpPr>
        <p:spPr>
          <a:xfrm>
            <a:off x="9855478" y="5984904"/>
            <a:ext cx="2336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172.16.10.146/29 -172.16.10.147/29</a:t>
            </a:r>
          </a:p>
          <a:p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GW:172.16.10.145</a:t>
            </a:r>
            <a:endParaRPr lang="zh-CN" altLang="en-US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11">
            <a:extLst>
              <a:ext uri="{FF2B5EF4-FFF2-40B4-BE49-F238E27FC236}">
                <a16:creationId xmlns:a16="http://schemas.microsoft.com/office/drawing/2014/main" id="{28D3502F-C8E2-6A24-94DE-972ACD1A19C1}"/>
              </a:ext>
            </a:extLst>
          </p:cNvPr>
          <p:cNvSpPr/>
          <p:nvPr/>
        </p:nvSpPr>
        <p:spPr>
          <a:xfrm>
            <a:off x="10871567" y="1074657"/>
            <a:ext cx="80502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42.200.32.39</a:t>
            </a:r>
            <a:endParaRPr lang="zh-CN" altLang="en-US" sz="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65E0044-68FC-6CD9-8822-9C1FB334F3B2}"/>
              </a:ext>
            </a:extLst>
          </p:cNvPr>
          <p:cNvSpPr txBox="1"/>
          <p:nvPr/>
        </p:nvSpPr>
        <p:spPr>
          <a:xfrm>
            <a:off x="10860476" y="1655559"/>
            <a:ext cx="11929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103.239.177.226/29</a:t>
            </a:r>
          </a:p>
          <a:p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GW:103.239.177.225</a:t>
            </a:r>
            <a:endParaRPr lang="zh-CN" altLang="en-US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2">
            <a:extLst>
              <a:ext uri="{FF2B5EF4-FFF2-40B4-BE49-F238E27FC236}">
                <a16:creationId xmlns:a16="http://schemas.microsoft.com/office/drawing/2014/main" id="{AB5A0CAB-0B94-CF59-5C4F-A419AC9E8E0C}"/>
              </a:ext>
            </a:extLst>
          </p:cNvPr>
          <p:cNvSpPr txBox="1"/>
          <p:nvPr/>
        </p:nvSpPr>
        <p:spPr>
          <a:xfrm>
            <a:off x="6036733" y="128297"/>
            <a:ext cx="721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PROD</a:t>
            </a:r>
            <a:endParaRPr lang="zh-CN" altLang="en-US" dirty="0"/>
          </a:p>
        </p:txBody>
      </p:sp>
      <p:sp>
        <p:nvSpPr>
          <p:cNvPr id="23" name="文本框 14">
            <a:extLst>
              <a:ext uri="{FF2B5EF4-FFF2-40B4-BE49-F238E27FC236}">
                <a16:creationId xmlns:a16="http://schemas.microsoft.com/office/drawing/2014/main" id="{29BFE016-749E-EA3C-63E1-B26528B6B6E6}"/>
              </a:ext>
            </a:extLst>
          </p:cNvPr>
          <p:cNvSpPr txBox="1"/>
          <p:nvPr/>
        </p:nvSpPr>
        <p:spPr>
          <a:xfrm>
            <a:off x="10545948" y="128297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SQCC</a:t>
            </a:r>
          </a:p>
        </p:txBody>
      </p:sp>
      <p:sp>
        <p:nvSpPr>
          <p:cNvPr id="24" name="文本框 15">
            <a:extLst>
              <a:ext uri="{FF2B5EF4-FFF2-40B4-BE49-F238E27FC236}">
                <a16:creationId xmlns:a16="http://schemas.microsoft.com/office/drawing/2014/main" id="{E69EA4B6-0C3A-E6F0-4CF6-FD65CCB9FD6A}"/>
              </a:ext>
            </a:extLst>
          </p:cNvPr>
          <p:cNvSpPr txBox="1"/>
          <p:nvPr/>
        </p:nvSpPr>
        <p:spPr>
          <a:xfrm>
            <a:off x="5265507" y="1318942"/>
            <a:ext cx="7040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</a:rPr>
              <a:t>DIA 100M</a:t>
            </a:r>
            <a:endParaRPr lang="zh-CN" altLang="en-US" sz="1000" dirty="0">
              <a:solidFill>
                <a:srgbClr val="FF0000"/>
              </a:solidFill>
            </a:endParaRPr>
          </a:p>
        </p:txBody>
      </p:sp>
      <p:sp>
        <p:nvSpPr>
          <p:cNvPr id="25" name="文本框 16">
            <a:extLst>
              <a:ext uri="{FF2B5EF4-FFF2-40B4-BE49-F238E27FC236}">
                <a16:creationId xmlns:a16="http://schemas.microsoft.com/office/drawing/2014/main" id="{E1C1A8F6-F5A0-1E2A-18B6-4E04030C74C0}"/>
              </a:ext>
            </a:extLst>
          </p:cNvPr>
          <p:cNvSpPr txBox="1"/>
          <p:nvPr/>
        </p:nvSpPr>
        <p:spPr>
          <a:xfrm>
            <a:off x="10843354" y="1318942"/>
            <a:ext cx="7040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</a:rPr>
              <a:t>DIA 100M</a:t>
            </a:r>
            <a:endParaRPr lang="zh-CN" altLang="en-US" sz="1000" dirty="0">
              <a:solidFill>
                <a:srgbClr val="FF0000"/>
              </a:solidFill>
            </a:endParaRPr>
          </a:p>
        </p:txBody>
      </p:sp>
      <p:sp>
        <p:nvSpPr>
          <p:cNvPr id="26" name="圆角矩形 17">
            <a:extLst>
              <a:ext uri="{FF2B5EF4-FFF2-40B4-BE49-F238E27FC236}">
                <a16:creationId xmlns:a16="http://schemas.microsoft.com/office/drawing/2014/main" id="{36DE7F7E-9690-440E-A2A6-2FFEDF220246}"/>
              </a:ext>
            </a:extLst>
          </p:cNvPr>
          <p:cNvSpPr/>
          <p:nvPr/>
        </p:nvSpPr>
        <p:spPr>
          <a:xfrm>
            <a:off x="4926012" y="1565163"/>
            <a:ext cx="1521354" cy="5164540"/>
          </a:xfrm>
          <a:prstGeom prst="roundRect">
            <a:avLst>
              <a:gd name="adj" fmla="val 9432"/>
            </a:avLst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圆角矩形 18">
            <a:extLst>
              <a:ext uri="{FF2B5EF4-FFF2-40B4-BE49-F238E27FC236}">
                <a16:creationId xmlns:a16="http://schemas.microsoft.com/office/drawing/2014/main" id="{C353F3E5-6657-D1EB-8E84-0EA57AF22BD9}"/>
              </a:ext>
            </a:extLst>
          </p:cNvPr>
          <p:cNvSpPr/>
          <p:nvPr/>
        </p:nvSpPr>
        <p:spPr>
          <a:xfrm>
            <a:off x="6523580" y="1565162"/>
            <a:ext cx="1521354" cy="5164541"/>
          </a:xfrm>
          <a:prstGeom prst="roundRect">
            <a:avLst>
              <a:gd name="adj" fmla="val 9432"/>
            </a:avLst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19">
            <a:extLst>
              <a:ext uri="{FF2B5EF4-FFF2-40B4-BE49-F238E27FC236}">
                <a16:creationId xmlns:a16="http://schemas.microsoft.com/office/drawing/2014/main" id="{9F72FA41-6EF8-BAEE-DB80-93D6F7B33CF9}"/>
              </a:ext>
            </a:extLst>
          </p:cNvPr>
          <p:cNvSpPr txBox="1"/>
          <p:nvPr/>
        </p:nvSpPr>
        <p:spPr>
          <a:xfrm>
            <a:off x="5119245" y="6452704"/>
            <a:ext cx="10134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HK8-301-C19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38" name="文本框 20">
            <a:extLst>
              <a:ext uri="{FF2B5EF4-FFF2-40B4-BE49-F238E27FC236}">
                <a16:creationId xmlns:a16="http://schemas.microsoft.com/office/drawing/2014/main" id="{231CF53E-8BDC-8FF6-E611-01BA909F0548}"/>
              </a:ext>
            </a:extLst>
          </p:cNvPr>
          <p:cNvSpPr txBox="1"/>
          <p:nvPr/>
        </p:nvSpPr>
        <p:spPr>
          <a:xfrm>
            <a:off x="6735931" y="6452704"/>
            <a:ext cx="10134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HK8-301-C18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39" name="圆角矩形 21">
            <a:extLst>
              <a:ext uri="{FF2B5EF4-FFF2-40B4-BE49-F238E27FC236}">
                <a16:creationId xmlns:a16="http://schemas.microsoft.com/office/drawing/2014/main" id="{7FF4D62F-3A34-CB4F-7070-3D3F3C02E44B}"/>
              </a:ext>
            </a:extLst>
          </p:cNvPr>
          <p:cNvSpPr/>
          <p:nvPr/>
        </p:nvSpPr>
        <p:spPr>
          <a:xfrm>
            <a:off x="9935632" y="1565162"/>
            <a:ext cx="1740963" cy="5164541"/>
          </a:xfrm>
          <a:prstGeom prst="roundRect">
            <a:avLst>
              <a:gd name="adj" fmla="val 9432"/>
            </a:avLst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22">
            <a:extLst>
              <a:ext uri="{FF2B5EF4-FFF2-40B4-BE49-F238E27FC236}">
                <a16:creationId xmlns:a16="http://schemas.microsoft.com/office/drawing/2014/main" id="{88147E40-4F67-1E9A-090C-29CDCBAB6E26}"/>
              </a:ext>
            </a:extLst>
          </p:cNvPr>
          <p:cNvSpPr txBox="1"/>
          <p:nvPr/>
        </p:nvSpPr>
        <p:spPr>
          <a:xfrm>
            <a:off x="10345624" y="6452704"/>
            <a:ext cx="10134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HK8-301-C20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C65AFEE-0475-DB9F-AAEE-6F46CEFF163C}"/>
              </a:ext>
            </a:extLst>
          </p:cNvPr>
          <p:cNvSpPr>
            <a:spLocks noGrp="1"/>
          </p:cNvSpPr>
          <p:nvPr/>
        </p:nvSpPr>
        <p:spPr>
          <a:xfrm>
            <a:off x="251518" y="1074657"/>
            <a:ext cx="4476494" cy="5036948"/>
          </a:xfrm>
          <a:prstGeom prst="rect">
            <a:avLst/>
          </a:prstGeom>
          <a:solidFill>
            <a:srgbClr val="EEF5FF"/>
          </a:solidFill>
          <a:ln w="9525">
            <a:solidFill>
              <a:srgbClr val="D6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6A66A93-5847-47DF-008A-DF86F9D133E0}"/>
              </a:ext>
            </a:extLst>
          </p:cNvPr>
          <p:cNvSpPr>
            <a:spLocks noGrp="1"/>
          </p:cNvSpPr>
          <p:nvPr/>
        </p:nvSpPr>
        <p:spPr>
          <a:xfrm>
            <a:off x="565843" y="1322307"/>
            <a:ext cx="3615629" cy="9040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HK" b="1" dirty="0"/>
              <a:t>GPU Infrastructure</a:t>
            </a:r>
            <a:endParaRPr sz="1800" b="1" dirty="0">
              <a:solidFill>
                <a:srgbClr val="11182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ED4EB80-0611-F80F-81A9-027F49A3795A}"/>
              </a:ext>
            </a:extLst>
          </p:cNvPr>
          <p:cNvSpPr>
            <a:spLocks noGrp="1"/>
          </p:cNvSpPr>
          <p:nvPr/>
        </p:nvSpPr>
        <p:spPr>
          <a:xfrm>
            <a:off x="552450" y="1741406"/>
            <a:ext cx="3701716" cy="17435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HK" sz="1600" dirty="0"/>
              <a:t>3 × AI Servers, each equipped with 8 × </a:t>
            </a:r>
            <a:r>
              <a:rPr lang="en-HK" sz="1600" b="1" dirty="0"/>
              <a:t>Huawei Ascend </a:t>
            </a:r>
            <a:r>
              <a:rPr lang="en-HK" sz="1600" dirty="0"/>
              <a:t>910B GPUs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HK" sz="1600" dirty="0"/>
              <a:t>Production: 2 servers (16 GPUs)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HK" sz="1600" dirty="0"/>
              <a:t>Testing / UAT: 1 server (8 GPUs)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20288E4-7111-1CAA-8D8E-DB09AF97BA92}"/>
              </a:ext>
            </a:extLst>
          </p:cNvPr>
          <p:cNvSpPr>
            <a:spLocks noGrp="1"/>
          </p:cNvSpPr>
          <p:nvPr/>
        </p:nvSpPr>
        <p:spPr>
          <a:xfrm>
            <a:off x="552450" y="2976966"/>
            <a:ext cx="3615629" cy="9040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HK" b="1" dirty="0"/>
              <a:t>Network Architecture</a:t>
            </a:r>
            <a:endParaRPr sz="1800" b="1" dirty="0">
              <a:solidFill>
                <a:srgbClr val="11182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6B6404F-AF50-8AED-CE73-45EE8D7BC49C}"/>
              </a:ext>
            </a:extLst>
          </p:cNvPr>
          <p:cNvSpPr>
            <a:spLocks noGrp="1"/>
          </p:cNvSpPr>
          <p:nvPr/>
        </p:nvSpPr>
        <p:spPr>
          <a:xfrm>
            <a:off x="552450" y="3396065"/>
            <a:ext cx="3701716" cy="17435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HK" sz="1600" dirty="0"/>
              <a:t>Dedicated </a:t>
            </a:r>
            <a:r>
              <a:rPr lang="en-HK" sz="1600" b="1" dirty="0"/>
              <a:t>leased line </a:t>
            </a:r>
            <a:r>
              <a:rPr lang="en-HK" sz="1600" dirty="0"/>
              <a:t>connection to airport servers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HK" sz="1600" dirty="0"/>
              <a:t>Production and Test environments are </a:t>
            </a:r>
            <a:r>
              <a:rPr lang="en-HK" sz="1600" b="1" dirty="0"/>
              <a:t>physically</a:t>
            </a:r>
            <a:r>
              <a:rPr lang="en-HK" sz="1600" dirty="0"/>
              <a:t> isolated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F54A720-7BF3-2577-458E-1DA8F8585680}"/>
              </a:ext>
            </a:extLst>
          </p:cNvPr>
          <p:cNvSpPr>
            <a:spLocks noGrp="1"/>
          </p:cNvSpPr>
          <p:nvPr/>
        </p:nvSpPr>
        <p:spPr>
          <a:xfrm>
            <a:off x="565842" y="4673706"/>
            <a:ext cx="3615629" cy="9040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HK" b="1" dirty="0"/>
              <a:t>Availability &amp; Security</a:t>
            </a:r>
            <a:endParaRPr sz="1800" b="1" dirty="0">
              <a:solidFill>
                <a:srgbClr val="11182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7FA28BF-1D58-361F-AD2D-56D63835058B}"/>
              </a:ext>
            </a:extLst>
          </p:cNvPr>
          <p:cNvSpPr>
            <a:spLocks noGrp="1"/>
          </p:cNvSpPr>
          <p:nvPr/>
        </p:nvSpPr>
        <p:spPr>
          <a:xfrm>
            <a:off x="552450" y="4977646"/>
            <a:ext cx="3629021" cy="7715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HK" sz="1600" dirty="0"/>
              <a:t>On-premises inference with all models hosted locally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HK" sz="1600" dirty="0"/>
              <a:t>Dedicated Firewall</a:t>
            </a:r>
          </a:p>
        </p:txBody>
      </p:sp>
    </p:spTree>
    <p:extLst>
      <p:ext uri="{BB962C8B-B14F-4D97-AF65-F5344CB8AC3E}">
        <p14:creationId xmlns:p14="http://schemas.microsoft.com/office/powerpoint/2010/main" val="3169828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211704DD-D941-16AF-218C-C028FE043F06}"/>
              </a:ext>
            </a:extLst>
          </p:cNvPr>
          <p:cNvSpPr>
            <a:spLocks noGrp="1"/>
          </p:cNvSpPr>
          <p:nvPr/>
        </p:nvSpPr>
        <p:spPr>
          <a:xfrm>
            <a:off x="428625" y="3514726"/>
            <a:ext cx="4953000" cy="1485900"/>
          </a:xfrm>
          <a:prstGeom prst="rect">
            <a:avLst/>
          </a:prstGeom>
          <a:solidFill>
            <a:srgbClr val="EEF5FF"/>
          </a:solidFill>
          <a:ln w="9525">
            <a:solidFill>
              <a:srgbClr val="D6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2439651-ED05-47A6-B546-72D2E6BED205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858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HK" sz="2775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LLM Concurrency Calculation</a:t>
            </a:r>
            <a:r>
              <a:rPr lang="zh-CN" altLang="en-US" sz="2775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en-US" altLang="zh-CN" sz="2775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(Why 2 AI servers)</a:t>
            </a:r>
            <a:endParaRPr sz="2775" b="1" dirty="0">
              <a:solidFill>
                <a:srgbClr val="11182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D40787-16A6-4013-A02D-48EF02086905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762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Capacity is constrained by KV cache memory, not only by total card count.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6556A6-50ED-437F-BE77-815B352B2658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914400" cy="47625"/>
          </a:xfrm>
          <a:prstGeom prst="rect">
            <a:avLst/>
          </a:prstGeom>
          <a:solidFill>
            <a:srgbClr val="2475FF"/>
          </a:solidFill>
          <a:ln w="9525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121221-4B98-4DE6-B389-ECF66CDE5BCA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FACDC0-3A96-4337-A4E1-980987927EEF}"/>
              </a:ext>
            </a:extLst>
          </p:cNvPr>
          <p:cNvSpPr>
            <a:spLocks noGrp="1"/>
          </p:cNvSpPr>
          <p:nvPr/>
        </p:nvSpPr>
        <p:spPr>
          <a:xfrm>
            <a:off x="714375" y="2047875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247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2475FF"/>
                </a:solidFill>
                <a:latin typeface="Helvetica Neue"/>
                <a:ea typeface="Helvetica Neue"/>
                <a:cs typeface="Helvetica Neue"/>
              </a:rPr>
              <a:t>2 ×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77192D-3A56-4898-812E-457A4965BA7E}"/>
              </a:ext>
            </a:extLst>
          </p:cNvPr>
          <p:cNvSpPr>
            <a:spLocks noGrp="1"/>
          </p:cNvSpPr>
          <p:nvPr/>
        </p:nvSpPr>
        <p:spPr>
          <a:xfrm>
            <a:off x="714375" y="2638425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910B cards in production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D4A956-3D31-49FD-B9E6-60A36D8958A9}"/>
              </a:ext>
            </a:extLst>
          </p:cNvPr>
          <p:cNvSpPr>
            <a:spLocks noGrp="1"/>
          </p:cNvSpPr>
          <p:nvPr/>
        </p:nvSpPr>
        <p:spPr>
          <a:xfrm>
            <a:off x="3286125" y="2047875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247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2475FF"/>
                </a:solidFill>
                <a:latin typeface="Helvetica Neue"/>
                <a:ea typeface="Helvetica Neue"/>
                <a:cs typeface="Helvetica Neue"/>
              </a:rPr>
              <a:t>2 ×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E07491-58B2-4448-9FC6-8078DF351F6A}"/>
              </a:ext>
            </a:extLst>
          </p:cNvPr>
          <p:cNvSpPr>
            <a:spLocks noGrp="1"/>
          </p:cNvSpPr>
          <p:nvPr/>
        </p:nvSpPr>
        <p:spPr>
          <a:xfrm>
            <a:off x="3286125" y="2638425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Cards allocated to QwenVL2.5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10D7C7-ABDA-4093-8E6A-DE7C536B2417}"/>
              </a:ext>
            </a:extLst>
          </p:cNvPr>
          <p:cNvSpPr>
            <a:spLocks noGrp="1"/>
          </p:cNvSpPr>
          <p:nvPr/>
        </p:nvSpPr>
        <p:spPr>
          <a:xfrm>
            <a:off x="6238875" y="2047875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247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dirty="0">
                <a:solidFill>
                  <a:srgbClr val="2475FF"/>
                </a:solidFill>
                <a:latin typeface="Helvetica Neue"/>
                <a:ea typeface="Helvetica Neue"/>
                <a:cs typeface="Helvetica Neue"/>
              </a:rPr>
              <a:t>1</a:t>
            </a:r>
            <a:r>
              <a:rPr lang="en-US" altLang="zh-CN" sz="3000" b="1" dirty="0">
                <a:solidFill>
                  <a:srgbClr val="2475FF"/>
                </a:solidFill>
                <a:latin typeface="Helvetica Neue"/>
                <a:ea typeface="Helvetica Neue"/>
                <a:cs typeface="Helvetica Neue"/>
              </a:rPr>
              <a:t>0</a:t>
            </a:r>
            <a:r>
              <a:rPr sz="3000" b="1" dirty="0">
                <a:solidFill>
                  <a:srgbClr val="2475FF"/>
                </a:solidFill>
                <a:latin typeface="Helvetica Neue"/>
                <a:ea typeface="Helvetica Neue"/>
                <a:cs typeface="Helvetica Neue"/>
              </a:rPr>
              <a:t>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A1D887-5093-4C9E-829C-B97061352488}"/>
              </a:ext>
            </a:extLst>
          </p:cNvPr>
          <p:cNvSpPr>
            <a:spLocks noGrp="1"/>
          </p:cNvSpPr>
          <p:nvPr/>
        </p:nvSpPr>
        <p:spPr>
          <a:xfrm>
            <a:off x="6238875" y="2638425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Configured context window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7F5AB5-1363-4B59-B3EB-D2D4A9D52AA5}"/>
              </a:ext>
            </a:extLst>
          </p:cNvPr>
          <p:cNvSpPr>
            <a:spLocks noGrp="1"/>
          </p:cNvSpPr>
          <p:nvPr/>
        </p:nvSpPr>
        <p:spPr>
          <a:xfrm>
            <a:off x="8667750" y="4462463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247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2475FF"/>
                </a:solidFill>
                <a:latin typeface="Helvetica Neue"/>
                <a:ea typeface="Helvetica Neue"/>
                <a:cs typeface="Helvetica Neue"/>
              </a:rPr>
              <a:t>~8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F06E29-DC1E-4899-9A1F-20A15051FD9D}"/>
              </a:ext>
            </a:extLst>
          </p:cNvPr>
          <p:cNvSpPr>
            <a:spLocks noGrp="1"/>
          </p:cNvSpPr>
          <p:nvPr/>
        </p:nvSpPr>
        <p:spPr>
          <a:xfrm>
            <a:off x="6286500" y="3514726"/>
            <a:ext cx="4953000" cy="1500187"/>
          </a:xfrm>
          <a:prstGeom prst="rect">
            <a:avLst/>
          </a:prstGeom>
          <a:solidFill>
            <a:srgbClr val="EEF5FF"/>
          </a:solidFill>
          <a:ln w="9525">
            <a:solidFill>
              <a:srgbClr val="D6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4EF4F8-8CBD-4B1D-A6E0-DC7433BF41EB}"/>
              </a:ext>
            </a:extLst>
          </p:cNvPr>
          <p:cNvSpPr>
            <a:spLocks noGrp="1"/>
          </p:cNvSpPr>
          <p:nvPr/>
        </p:nvSpPr>
        <p:spPr>
          <a:xfrm>
            <a:off x="6600825" y="3762376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KV cache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1E2710-4F67-4E39-8E06-AB39A8A66B19}"/>
              </a:ext>
            </a:extLst>
          </p:cNvPr>
          <p:cNvSpPr>
            <a:spLocks noGrp="1"/>
          </p:cNvSpPr>
          <p:nvPr/>
        </p:nvSpPr>
        <p:spPr>
          <a:xfrm>
            <a:off x="6600825" y="4105276"/>
            <a:ext cx="409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2</a:t>
            </a:r>
            <a:r>
              <a:rPr lang="zh-CN" altLang="en-US" sz="1350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en-US" altLang="zh-CN" sz="1350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(K + V)</a:t>
            </a:r>
            <a:r>
              <a:rPr sz="1350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 × </a:t>
            </a:r>
            <a:r>
              <a:rPr lang="en-US" altLang="zh-CN" sz="1350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64</a:t>
            </a:r>
            <a:r>
              <a:rPr sz="1350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 layers × 8 KV heads × 128 head dim × 2 bytes</a:t>
            </a:r>
            <a:r>
              <a:rPr lang="en-US" sz="1350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(FP16)</a:t>
            </a:r>
            <a:r>
              <a:rPr sz="1350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en-US" sz="1350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= </a:t>
            </a:r>
            <a:r>
              <a:rPr lang="en-US" altLang="zh-CN" sz="1350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256K/token</a:t>
            </a:r>
            <a:r>
              <a:rPr lang="zh-CN" altLang="en-US" sz="1350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 </a:t>
            </a:r>
            <a:endParaRPr sz="1350" b="0" dirty="0">
              <a:solidFill>
                <a:srgbClr val="677085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40B10D-9C5D-4164-A97E-290F2520F949}"/>
              </a:ext>
            </a:extLst>
          </p:cNvPr>
          <p:cNvSpPr>
            <a:spLocks noGrp="1"/>
          </p:cNvSpPr>
          <p:nvPr/>
        </p:nvSpPr>
        <p:spPr>
          <a:xfrm>
            <a:off x="857250" y="3762376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HK" sz="1800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Model</a:t>
            </a:r>
            <a:r>
              <a:rPr lang="zh-CN" altLang="en-US" sz="1800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en-HK" sz="1800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Weights</a:t>
            </a:r>
            <a:r>
              <a:rPr lang="zh-CN" altLang="en-US" sz="1800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en-US" altLang="zh-CN" sz="1800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(</a:t>
            </a:r>
            <a:r>
              <a:rPr lang="en-US" altLang="zh-CN" sz="1800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  <a:hlinkClick r:id="rId3"/>
              </a:rPr>
              <a:t>Qwen2.5-VL-32B</a:t>
            </a:r>
            <a:r>
              <a:rPr lang="en-US" altLang="zh-CN" sz="1800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)</a:t>
            </a:r>
            <a:r>
              <a:rPr lang="zh-CN" altLang="en-US" sz="1800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 </a:t>
            </a:r>
            <a:endParaRPr sz="1800" b="1" dirty="0">
              <a:solidFill>
                <a:srgbClr val="11182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52A213-4FC8-49A2-A3A6-14A7AAC37BB1}"/>
              </a:ext>
            </a:extLst>
          </p:cNvPr>
          <p:cNvSpPr>
            <a:spLocks noGrp="1"/>
          </p:cNvSpPr>
          <p:nvPr/>
        </p:nvSpPr>
        <p:spPr>
          <a:xfrm>
            <a:off x="1219200" y="5972175"/>
            <a:ext cx="9753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833" lnSpcReduction="10000"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Shorter contexts can support higher batch concurrency; 128K should be treated as worst-case sizing.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2D81B5-8DD5-8392-C05F-CB4276E9C2B6}"/>
              </a:ext>
            </a:extLst>
          </p:cNvPr>
          <p:cNvSpPr>
            <a:spLocks noGrp="1"/>
          </p:cNvSpPr>
          <p:nvPr/>
        </p:nvSpPr>
        <p:spPr>
          <a:xfrm>
            <a:off x="8763000" y="2047875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2475F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altLang="zh-CN" sz="3000" b="1" dirty="0">
                <a:solidFill>
                  <a:srgbClr val="2475FF"/>
                </a:solidFill>
                <a:latin typeface="Helvetica Neue"/>
                <a:ea typeface="Helvetica Neue"/>
                <a:cs typeface="Helvetica Neue"/>
              </a:rPr>
              <a:t>512</a:t>
            </a:r>
            <a:r>
              <a:rPr lang="zh-CN" altLang="en-US" sz="3000" b="1" dirty="0">
                <a:solidFill>
                  <a:srgbClr val="2475FF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en-US" altLang="zh-CN" sz="3000" b="1" dirty="0">
                <a:solidFill>
                  <a:srgbClr val="2475FF"/>
                </a:solidFill>
                <a:latin typeface="Helvetica Neue"/>
                <a:ea typeface="Helvetica Neue"/>
                <a:cs typeface="Helvetica Neue"/>
              </a:rPr>
              <a:t>GB</a:t>
            </a:r>
            <a:endParaRPr sz="3000" b="1" dirty="0">
              <a:solidFill>
                <a:srgbClr val="2475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8F2BB26-DD7E-DA0C-5732-D07A190971FB}"/>
              </a:ext>
            </a:extLst>
          </p:cNvPr>
          <p:cNvSpPr>
            <a:spLocks noGrp="1"/>
          </p:cNvSpPr>
          <p:nvPr/>
        </p:nvSpPr>
        <p:spPr>
          <a:xfrm>
            <a:off x="8763000" y="2638425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HK" sz="1275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Total</a:t>
            </a:r>
            <a:r>
              <a:rPr lang="zh-CN" altLang="en-US" sz="1275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en-US" altLang="zh-CN" sz="1275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VRAM</a:t>
            </a:r>
            <a:endParaRPr sz="1275" b="0" dirty="0">
              <a:solidFill>
                <a:srgbClr val="677085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29D5ABA-F05B-A0E6-FD31-6DC8843964E0}"/>
              </a:ext>
            </a:extLst>
          </p:cNvPr>
          <p:cNvSpPr>
            <a:spLocks noGrp="1"/>
          </p:cNvSpPr>
          <p:nvPr/>
        </p:nvSpPr>
        <p:spPr>
          <a:xfrm>
            <a:off x="857250" y="4143376"/>
            <a:ext cx="409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defRPr>
            </a:pPr>
            <a:endParaRPr sz="1350" b="0" dirty="0">
              <a:solidFill>
                <a:srgbClr val="677085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67B40E-1B0A-ACD0-66CA-718FA70841B9}"/>
              </a:ext>
            </a:extLst>
          </p:cNvPr>
          <p:cNvSpPr>
            <a:spLocks noGrp="1"/>
          </p:cNvSpPr>
          <p:nvPr/>
        </p:nvSpPr>
        <p:spPr>
          <a:xfrm>
            <a:off x="881063" y="4105276"/>
            <a:ext cx="409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1350" b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HK" sz="1350" dirty="0"/>
              <a:t>32B × 2 </a:t>
            </a:r>
            <a:r>
              <a:rPr lang="en-US" altLang="zh-CN" sz="1350" dirty="0"/>
              <a:t>(FP16)</a:t>
            </a:r>
            <a:r>
              <a:rPr lang="zh-CN" altLang="en-US" sz="1350" dirty="0"/>
              <a:t> </a:t>
            </a:r>
            <a:r>
              <a:rPr lang="en-US" altLang="zh-CN" sz="1350" dirty="0"/>
              <a:t>x</a:t>
            </a:r>
            <a:r>
              <a:rPr lang="zh-CN" altLang="en-US" sz="1350" dirty="0"/>
              <a:t> </a:t>
            </a:r>
            <a:r>
              <a:rPr lang="en-US" altLang="zh-CN" sz="1350" dirty="0"/>
              <a:t>2</a:t>
            </a:r>
            <a:r>
              <a:rPr lang="zh-CN" altLang="en-US" sz="1350" dirty="0"/>
              <a:t> </a:t>
            </a:r>
            <a:r>
              <a:rPr lang="en-US" altLang="zh-CN" sz="1350" dirty="0"/>
              <a:t>(2</a:t>
            </a:r>
            <a:r>
              <a:rPr lang="zh-CN" altLang="en-US" sz="1350" dirty="0"/>
              <a:t> </a:t>
            </a:r>
            <a:r>
              <a:rPr lang="en-US" altLang="zh-CN" sz="1350" dirty="0"/>
              <a:t>server)</a:t>
            </a:r>
            <a:r>
              <a:rPr lang="zh-CN" altLang="en-US" sz="1350" dirty="0"/>
              <a:t> </a:t>
            </a:r>
            <a:r>
              <a:rPr lang="en-US" altLang="zh-CN" sz="1350" dirty="0"/>
              <a:t>=</a:t>
            </a:r>
            <a:r>
              <a:rPr lang="zh-CN" altLang="en-US" sz="1350" dirty="0"/>
              <a:t> </a:t>
            </a:r>
            <a:r>
              <a:rPr lang="en-US" altLang="zh-CN" sz="1350" dirty="0"/>
              <a:t>128</a:t>
            </a:r>
            <a:r>
              <a:rPr lang="zh-CN" altLang="en-US" sz="1350" dirty="0"/>
              <a:t> </a:t>
            </a:r>
            <a:r>
              <a:rPr lang="en-US" altLang="zh-CN" sz="1350" dirty="0"/>
              <a:t>GB</a:t>
            </a:r>
            <a:r>
              <a:rPr lang="zh-CN" altLang="en-US" sz="1350" dirty="0"/>
              <a:t> </a:t>
            </a:r>
            <a:r>
              <a:rPr lang="en-HK" sz="1350" dirty="0"/>
              <a:t> </a:t>
            </a:r>
            <a:endParaRPr lang="en-HK" sz="1350" dirty="0">
              <a:solidFill>
                <a:srgbClr val="677085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1350" b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HK" sz="1350" dirty="0"/>
              <a:t> </a:t>
            </a:r>
            <a:endParaRPr sz="1350" b="0" dirty="0">
              <a:solidFill>
                <a:srgbClr val="677085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045D8BD-6DED-C252-4801-D5A8D63D0A3D}"/>
              </a:ext>
            </a:extLst>
          </p:cNvPr>
          <p:cNvSpPr>
            <a:spLocks noGrp="1"/>
          </p:cNvSpPr>
          <p:nvPr/>
        </p:nvSpPr>
        <p:spPr>
          <a:xfrm>
            <a:off x="3200400" y="5284789"/>
            <a:ext cx="5562600" cy="1027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70000"/>
              </a:lnSpc>
              <a:defRPr sz="1350" b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altLang="zh-CN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VRAM </a:t>
            </a:r>
            <a:r>
              <a:rPr lang="en-US" altLang="zh-CN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(KV cache)</a:t>
            </a:r>
            <a:r>
              <a:rPr lang="en-US" altLang="zh-CN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 =  512</a:t>
            </a:r>
            <a:r>
              <a:rPr lang="zh-CN" altLang="en-US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en-US" altLang="zh-CN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GB</a:t>
            </a:r>
            <a:r>
              <a:rPr lang="zh-CN" altLang="en-US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 * </a:t>
            </a:r>
            <a:r>
              <a:rPr lang="en-US" altLang="zh-CN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0.8</a:t>
            </a:r>
            <a:r>
              <a:rPr lang="zh-CN" altLang="en-US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en-US" altLang="zh-CN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(buffer)</a:t>
            </a:r>
            <a:r>
              <a:rPr lang="zh-CN" altLang="en-US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en-US" altLang="zh-CN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–</a:t>
            </a:r>
            <a:r>
              <a:rPr lang="zh-CN" altLang="en-US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en-US" altLang="zh-CN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126</a:t>
            </a:r>
            <a:r>
              <a:rPr lang="zh-CN" altLang="en-US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en-US" altLang="zh-CN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GB</a:t>
            </a:r>
            <a:r>
              <a:rPr lang="zh-CN" altLang="en-US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en-US" altLang="zh-CN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=</a:t>
            </a:r>
            <a:r>
              <a:rPr lang="zh-CN" altLang="en-US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  </a:t>
            </a:r>
            <a:r>
              <a:rPr lang="en-US" altLang="zh-CN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281.6GB</a:t>
            </a:r>
            <a:br>
              <a:rPr lang="en-US" altLang="zh-CN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</a:br>
            <a:r>
              <a:rPr lang="en-US" altLang="zh-CN" sz="2000" b="1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Max Concurrency = 281.6/2.5 = 112</a:t>
            </a:r>
            <a:r>
              <a:rPr lang="zh-CN" altLang="en-US" sz="2000" b="1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en-HK" sz="2000" b="1" dirty="0"/>
              <a:t>request</a:t>
            </a:r>
            <a:r>
              <a:rPr lang="zh-CN" altLang="en-US" sz="2000" b="1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 </a:t>
            </a:r>
            <a:endParaRPr sz="2000" b="1" dirty="0">
              <a:solidFill>
                <a:srgbClr val="677085"/>
              </a:solidFill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61BD3A4C-B190-22DC-7BC2-9D243D7EEC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50" y="4404446"/>
            <a:ext cx="2514600" cy="126856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17A8073A-2A15-708A-6BD5-2EA96F5A950B}"/>
              </a:ext>
            </a:extLst>
          </p:cNvPr>
          <p:cNvSpPr>
            <a:spLocks noGrp="1"/>
          </p:cNvSpPr>
          <p:nvPr/>
        </p:nvSpPr>
        <p:spPr>
          <a:xfrm>
            <a:off x="6600825" y="4616451"/>
            <a:ext cx="409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1350" b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altLang="zh-CN" sz="1350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256K/token</a:t>
            </a:r>
            <a:r>
              <a:rPr lang="zh-CN" altLang="en-US" sz="1350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en-US" altLang="zh-CN" sz="1350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* 10K token= 2.5 GB/</a:t>
            </a:r>
            <a:r>
              <a:rPr lang="en-HK" sz="1350" dirty="0"/>
              <a:t>request</a:t>
            </a:r>
            <a:r>
              <a:rPr lang="en-US" altLang="zh-CN" sz="1350" b="0" dirty="0">
                <a:solidFill>
                  <a:srgbClr val="677085"/>
                </a:solidFill>
                <a:latin typeface="Helvetica Neue"/>
                <a:ea typeface="Helvetica Neue"/>
                <a:cs typeface="Helvetica Neue"/>
              </a:rPr>
              <a:t> </a:t>
            </a:r>
            <a:endParaRPr sz="1350" b="0" dirty="0">
              <a:solidFill>
                <a:srgbClr val="677085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65041273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393</Words>
  <Application>Microsoft Macintosh PowerPoint</Application>
  <DocSecurity>0</DocSecurity>
  <PresentationFormat>Widescreen</PresentationFormat>
  <Paragraphs>96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微软雅黑</vt:lpstr>
      <vt:lpstr>Arial</vt:lpstr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一鸣 黄</cp:lastModifiedBy>
  <cp:revision>8</cp:revision>
  <dcterms:created xsi:type="dcterms:W3CDTF">2026-07-16T09:17:44Z</dcterms:created>
  <dcterms:modified xsi:type="dcterms:W3CDTF">2026-07-17T09:22:35Z</dcterms:modified>
</cp:coreProperties>
</file>