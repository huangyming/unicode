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12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Hotel Pickup Similar-Day Selection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Pareto multi-objective optimization for the second-stage selection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085"/>
                </a:solidFill>
              </a:rPr>
              <a:t>Why change?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24A"/>
                </a:solidFill>
              </a:rPr>
              <a:t>The business has two objectives that can conflict: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78F6"/>
                </a:solidFill>
              </a:rPr>
              <a:t>1  Maximize Pickup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A999"/>
                </a:solidFill>
              </a:rPr>
              <a:t>2  Keep Block Size close to Today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583680" y="1508760"/>
            <a:ext cx="0" cy="4023360"/>
          </a:xfrm>
          <a:prstGeom prst="line">
            <a:avLst/>
          </a:prstGeom>
          <a:noFill/>
          <a:ln w="1905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995160" y="1508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24A"/>
                </a:solidFill>
              </a:rPr>
              <a:t>Recommended decision flow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995160" y="2240280"/>
            <a:ext cx="1645920" cy="777240"/>
          </a:xfrm>
          <a:prstGeom prst="roundRect">
            <a:avLst/>
          </a:prstGeom>
          <a:solidFill>
            <a:srgbClr val="3478F6"/>
          </a:solidFill>
          <a:ln w="12700">
            <a:solidFill>
              <a:srgbClr val="3478F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068312" y="2368296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KNN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319125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15 similar-day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candidates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59368" y="2450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67085"/>
                </a:solidFill>
              </a:rPr>
              <a:t>→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8732520" y="2240280"/>
            <a:ext cx="1645920" cy="777240"/>
          </a:xfrm>
          <a:prstGeom prst="roundRect">
            <a:avLst/>
          </a:prstGeom>
          <a:solidFill>
            <a:srgbClr val="20A999"/>
          </a:solidFill>
          <a:ln w="12700">
            <a:solidFill>
              <a:srgbClr val="20A999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805672" y="2368296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Pareto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0" y="319125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Remove dominated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candidates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396728" y="2450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67085"/>
                </a:solidFill>
              </a:rPr>
              <a:t>→</a:t>
            </a:r>
            <a:endParaRPr lang="en-US" sz="2500" dirty="0"/>
          </a:p>
        </p:txBody>
      </p:sp>
      <p:sp>
        <p:nvSpPr>
          <p:cNvPr id="18" name="Shape 16"/>
          <p:cNvSpPr/>
          <p:nvPr/>
        </p:nvSpPr>
        <p:spPr>
          <a:xfrm>
            <a:off x="10469880" y="2240280"/>
            <a:ext cx="1645920" cy="777240"/>
          </a:xfrm>
          <a:prstGeom prst="round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543032" y="2368296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Business rule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424160" y="319125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Select final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similar day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95160" y="4251960"/>
            <a:ext cx="5074920" cy="960120"/>
          </a:xfrm>
          <a:prstGeom prst="roundRect">
            <a:avLst/>
          </a:prstGeom>
          <a:solidFill>
            <a:srgbClr val="EDF7F5"/>
          </a:solidFill>
          <a:ln w="12700">
            <a:solidFill>
              <a:srgbClr val="B7E2D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223760" y="448056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20A999"/>
                </a:solidFill>
              </a:rPr>
              <a:t>Key idea: this is a multi-objective optimization problem, so we should first identify the Pareto-optimal candidates rather than force the two objectives into one score.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r>
              <a:rPr sz="800">
                <a:solidFill>
                  <a:srgbClr val="5A6775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Why This Is a Multi-Objective Optimization Problem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24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1234440"/>
            <a:ext cx="73152" cy="1874520"/>
          </a:xfrm>
          <a:prstGeom prst="rect">
            <a:avLst/>
          </a:prstGeom>
          <a:solidFill>
            <a:srgbClr val="3478F6"/>
          </a:solidFill>
          <a:ln w="12700">
            <a:solidFill>
              <a:srgbClr val="3478F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68096" y="1399032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Objective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8096" y="1856232"/>
            <a:ext cx="3081528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30" dirty="0">
                <a:solidFill>
                  <a:srgbClr val="243447"/>
                </a:solidFill>
              </a:rPr>
              <a:t>Maximize Pickup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4389120" y="12344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24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389120" y="1234440"/>
            <a:ext cx="73152" cy="1874520"/>
          </a:xfrm>
          <a:prstGeom prst="rect">
            <a:avLst/>
          </a:prstGeom>
          <a:solidFill>
            <a:srgbClr val="20A999"/>
          </a:solidFill>
          <a:ln w="12700">
            <a:solidFill>
              <a:srgbClr val="20A99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08576" y="1399032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Objective 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08576" y="1856232"/>
            <a:ext cx="3081528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30" dirty="0">
                <a:solidFill>
                  <a:srgbClr val="243447"/>
                </a:solidFill>
              </a:rPr>
              <a:t>Minimize Block Size Gap vs. Today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8229600" y="12344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24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229600" y="1234440"/>
            <a:ext cx="73152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449056" y="1399032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The conflict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49056" y="1856232"/>
            <a:ext cx="3081528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30" dirty="0">
                <a:solidFill>
                  <a:srgbClr val="243447"/>
                </a:solidFill>
              </a:rPr>
              <a:t>A higher-Pickup day may have a larger Block Size gap, and vice versa.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731520" y="3520440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324A"/>
                </a:solidFill>
              </a:rPr>
              <a:t>Therefore, there is no single “best” candidate unless the business defines how to trade off the two objectives.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05840" y="4434840"/>
            <a:ext cx="10149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280160" y="4663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A999"/>
                </a:solidFill>
              </a:rPr>
              <a:t>Why Pareto?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0" y="4617720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43447"/>
                </a:solidFill>
              </a:rPr>
              <a:t>It removes candidates that are worse on both objectives, while keeping the meaningful trade-offs. No arbitrary 70/30 weighting is required upfront.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r>
              <a:rPr sz="800">
                <a:solidFill>
                  <a:srgbClr val="5A677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Pareto Logic: Remove Dominated Candidates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Higher Pickup is better; smaller Block Size Gap is better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005840" y="5486400"/>
            <a:ext cx="5212080" cy="0"/>
          </a:xfrm>
          <a:prstGeom prst="line">
            <a:avLst/>
          </a:prstGeom>
          <a:noFill/>
          <a:ln w="19050">
            <a:solidFill>
              <a:srgbClr val="18324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5486400"/>
            <a:ext cx="0" cy="-3886200"/>
          </a:xfrm>
          <a:prstGeom prst="line">
            <a:avLst/>
          </a:prstGeom>
          <a:noFill/>
          <a:ln w="19050">
            <a:solidFill>
              <a:srgbClr val="18324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26280" y="5623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Block Size Gap →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4447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Pickup 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08760" y="4892040"/>
            <a:ext cx="146304" cy="146304"/>
          </a:xfrm>
          <a:prstGeom prst="ellipse">
            <a:avLst/>
          </a:prstGeom>
          <a:solidFill>
            <a:srgbClr val="20A999"/>
          </a:solidFill>
          <a:ln w="12700">
            <a:solidFill>
              <a:srgbClr val="20A99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673352" y="48463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A999"/>
                </a:solidFill>
              </a:rPr>
              <a:t>A  20% / 2%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14600" y="3703320"/>
            <a:ext cx="146304" cy="146304"/>
          </a:xfrm>
          <a:prstGeom prst="ellipse">
            <a:avLst/>
          </a:prstGeom>
          <a:solidFill>
            <a:srgbClr val="20A999"/>
          </a:solidFill>
          <a:ln w="12700">
            <a:solidFill>
              <a:srgbClr val="20A99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679192" y="36576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A999"/>
                </a:solidFill>
              </a:rPr>
              <a:t>B  28% / 5%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77640" y="2240280"/>
            <a:ext cx="146304" cy="146304"/>
          </a:xfrm>
          <a:prstGeom prst="ellipse">
            <a:avLst/>
          </a:prstGeom>
          <a:solidFill>
            <a:srgbClr val="20A999"/>
          </a:solidFill>
          <a:ln w="12700">
            <a:solidFill>
              <a:srgbClr val="20A99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142232" y="21945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A999"/>
                </a:solidFill>
              </a:rPr>
              <a:t>C  35% / 10%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92040" y="4160520"/>
            <a:ext cx="146304" cy="146304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56632" y="41148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5756"/>
                </a:solidFill>
              </a:rPr>
              <a:t>D  25% / 12%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32120" y="4983480"/>
            <a:ext cx="146304" cy="146304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696712" y="49377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5756"/>
                </a:solidFill>
              </a:rPr>
              <a:t>E  18% / 15%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581912" y="4965192"/>
            <a:ext cx="2468880" cy="-2651760"/>
          </a:xfrm>
          <a:prstGeom prst="line">
            <a:avLst/>
          </a:prstGeom>
          <a:noFill/>
          <a:ln w="19050">
            <a:solidFill>
              <a:srgbClr val="20A999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03720" y="1417320"/>
            <a:ext cx="4709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903720" y="1417320"/>
            <a:ext cx="73152" cy="1828800"/>
          </a:xfrm>
          <a:prstGeom prst="rect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23176" y="1581912"/>
            <a:ext cx="4361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Dominance example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23176" y="2039112"/>
            <a:ext cx="4361688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30" dirty="0">
                <a:solidFill>
                  <a:srgbClr val="243447"/>
                </a:solidFill>
              </a:rPr>
              <a:t>B has both higher Pickup and a smaller Block Size Gap than D. Therefore, D is dominated by B and can be removed.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6903720" y="3611880"/>
            <a:ext cx="4709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903720" y="3611880"/>
            <a:ext cx="73152" cy="1828800"/>
          </a:xfrm>
          <a:prstGeom prst="rect">
            <a:avLst/>
          </a:prstGeom>
          <a:solidFill>
            <a:srgbClr val="20A999"/>
          </a:solidFill>
          <a:ln w="12700">
            <a:solidFill>
              <a:srgbClr val="20A999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123176" y="3776472"/>
            <a:ext cx="4361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A"/>
                </a:solidFill>
              </a:rPr>
              <a:t>Pareto frontier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23176" y="4233672"/>
            <a:ext cx="4361688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30" dirty="0">
                <a:solidFill>
                  <a:srgbClr val="243447"/>
                </a:solidFill>
              </a:rPr>
              <a:t>A, B and C each represent a different trade-off. None is better than another on both objectives, so all remain Pareto-optimal.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r>
              <a:rPr sz="800">
                <a:solidFill>
                  <a:srgbClr val="5A677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300" b="1">
                <a:solidFill>
                  <a:srgbClr val="18324A"/>
                </a:solidFill>
                <a:latin typeface="Aptos Display"/>
              </a:rPr>
              <a:t>4. How Many Similar Days Can Remain?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The number is not fixed — it depends on the dominance relationships among the 15 candidates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3375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17320"/>
            <a:ext cx="3337560" cy="109728"/>
          </a:xfrm>
          <a:prstGeom prst="rect">
            <a:avLst/>
          </a:prstGeom>
          <a:solidFill>
            <a:srgbClr val="20A999"/>
          </a:solidFill>
          <a:ln w="12700">
            <a:solidFill>
              <a:srgbClr val="20A99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37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8324A"/>
                </a:solidFill>
              </a:rPr>
              <a:t>Case A | 1 remains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26974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"/>
              </a:spcAft>
            </a:pPr>
            <a:r>
              <a:rPr sz="1250">
                <a:solidFill>
                  <a:srgbClr val="18324A"/>
                </a:solidFill>
                <a:latin typeface="Aptos"/>
              </a:rPr>
              <a:t>Example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18324A"/>
                </a:solidFill>
                <a:latin typeface="Aptos"/>
              </a:rPr>
              <a:t>A: 32% pickup / 3% gap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18324A"/>
                </a:solidFill>
                <a:latin typeface="Aptos"/>
              </a:rPr>
              <a:t>B: 25% / 6%   C: 20% / 12%</a:t>
            </a:r>
          </a:p>
        </p:txBody>
      </p:sp>
      <p:sp>
        <p:nvSpPr>
          <p:cNvPr id="8" name="Shape 6"/>
          <p:cNvSpPr/>
          <p:nvPr/>
        </p:nvSpPr>
        <p:spPr>
          <a:xfrm>
            <a:off x="1143000" y="3794760"/>
            <a:ext cx="214884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4160520"/>
            <a:ext cx="26974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"/>
              </a:spcAft>
            </a:pPr>
            <a:r>
              <a:rPr sz="1250">
                <a:solidFill>
                  <a:srgbClr val="18324A"/>
                </a:solidFill>
                <a:latin typeface="Aptos"/>
              </a:rPr>
              <a:t>A dominates B and C → only A remains.</a:t>
            </a:r>
          </a:p>
        </p:txBody>
      </p:sp>
      <p:sp>
        <p:nvSpPr>
          <p:cNvPr id="10" name="Shape 8"/>
          <p:cNvSpPr/>
          <p:nvPr/>
        </p:nvSpPr>
        <p:spPr>
          <a:xfrm>
            <a:off x="4160520" y="1417320"/>
            <a:ext cx="33375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60520" y="1417320"/>
            <a:ext cx="3337560" cy="109728"/>
          </a:xfrm>
          <a:prstGeom prst="rect">
            <a:avLst/>
          </a:prstGeom>
          <a:solidFill>
            <a:srgbClr val="3478F6"/>
          </a:solidFill>
          <a:ln w="12700">
            <a:solidFill>
              <a:srgbClr val="3478F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89120" y="1737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8324A"/>
                </a:solidFill>
              </a:rPr>
              <a:t>Case B | Several remain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480560" y="2514600"/>
            <a:ext cx="26974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"/>
              </a:spcAft>
            </a:pPr>
            <a:r>
              <a:rPr sz="1250">
                <a:solidFill>
                  <a:srgbClr val="18324A"/>
                </a:solidFill>
                <a:latin typeface="Aptos"/>
              </a:rPr>
              <a:t>Example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18324A"/>
                </a:solidFill>
                <a:latin typeface="Aptos"/>
              </a:rPr>
              <a:t>A: 20% / 2%   B: 28% / 5%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18324A"/>
                </a:solidFill>
                <a:latin typeface="Aptos"/>
              </a:rPr>
              <a:t>C: 35% / 10%  D: 25% / 12%</a:t>
            </a:r>
          </a:p>
        </p:txBody>
      </p:sp>
      <p:sp>
        <p:nvSpPr>
          <p:cNvPr id="14" name="Shape 12"/>
          <p:cNvSpPr/>
          <p:nvPr/>
        </p:nvSpPr>
        <p:spPr>
          <a:xfrm>
            <a:off x="4754880" y="3794760"/>
            <a:ext cx="214884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480560" y="4160520"/>
            <a:ext cx="26974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"/>
              </a:spcAft>
            </a:pPr>
            <a:r>
              <a:rPr sz="1250">
                <a:solidFill>
                  <a:srgbClr val="18324A"/>
                </a:solidFill>
                <a:latin typeface="Aptos"/>
              </a:rPr>
              <a:t>B dominates D; A, B and C remain as trade-offs.</a:t>
            </a:r>
          </a:p>
        </p:txBody>
      </p:sp>
      <p:sp>
        <p:nvSpPr>
          <p:cNvPr id="16" name="Shape 14"/>
          <p:cNvSpPr/>
          <p:nvPr/>
        </p:nvSpPr>
        <p:spPr>
          <a:xfrm>
            <a:off x="7772400" y="1417320"/>
            <a:ext cx="33375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772400" y="1417320"/>
            <a:ext cx="33375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001000" y="1737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8324A"/>
                </a:solidFill>
              </a:rPr>
              <a:t>Case C | All 15 remain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092440" y="2514600"/>
            <a:ext cx="26974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"/>
              </a:spcAft>
            </a:pPr>
            <a:r>
              <a:rPr sz="1250">
                <a:solidFill>
                  <a:srgbClr val="18324A"/>
                </a:solidFill>
                <a:latin typeface="Aptos"/>
              </a:rPr>
              <a:t>Example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18324A"/>
                </a:solidFill>
                <a:latin typeface="Aptos"/>
              </a:rPr>
              <a:t>A: 20% / 2%   B: 25% / 4%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18324A"/>
                </a:solidFill>
                <a:latin typeface="Aptos"/>
              </a:rPr>
              <a:t>C: 30% / 7%   D: 35% / 10%</a:t>
            </a:r>
          </a:p>
        </p:txBody>
      </p:sp>
      <p:sp>
        <p:nvSpPr>
          <p:cNvPr id="20" name="Shape 18"/>
          <p:cNvSpPr/>
          <p:nvPr/>
        </p:nvSpPr>
        <p:spPr>
          <a:xfrm>
            <a:off x="8366760" y="3794760"/>
            <a:ext cx="214884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092440" y="4160520"/>
            <a:ext cx="26974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"/>
              </a:spcAft>
            </a:pPr>
            <a:r>
              <a:rPr sz="1250">
                <a:solidFill>
                  <a:srgbClr val="18324A"/>
                </a:solidFill>
                <a:latin typeface="Aptos"/>
              </a:rPr>
              <a:t>If this pattern continues across all 15, all 15 remain.</a:t>
            </a:r>
          </a:p>
        </p:txBody>
      </p:sp>
      <p:sp>
        <p:nvSpPr>
          <p:cNvPr id="22" name="Text 20"/>
          <p:cNvSpPr/>
          <p:nvPr/>
        </p:nvSpPr>
        <p:spPr>
          <a:xfrm>
            <a:off x="1188720" y="580644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8324A"/>
                </a:solidFill>
              </a:rPr>
              <a:t>Pareto does not guarantee one final day. It guarantees that clearly inferior choices are removed first.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r>
              <a:rPr sz="800">
                <a:solidFill>
                  <a:srgbClr val="5A677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300" b="1">
                <a:solidFill>
                  <a:srgbClr val="18324A"/>
                </a:solidFill>
                <a:latin typeface="Aptos Display"/>
              </a:rPr>
              <a:t>5. Pareto vs. Current Z-score Screening</a:t>
            </a:r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1920240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76072" y="149047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Dimension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2423160" y="1325880"/>
            <a:ext cx="4434840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496312" y="1490472"/>
            <a:ext cx="4288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Current Z-score Screening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858000" y="1325880"/>
            <a:ext cx="4434840" cy="658368"/>
          </a:xfrm>
          <a:prstGeom prst="rect">
            <a:avLst/>
          </a:prstGeom>
          <a:solidFill>
            <a:srgbClr val="20A999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931152" y="1490472"/>
            <a:ext cx="4288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Pareto Multi-Objective Optimization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502920" y="1984248"/>
            <a:ext cx="1920240" cy="822960"/>
          </a:xfrm>
          <a:prstGeom prst="rect">
            <a:avLst/>
          </a:prstGeom>
          <a:solidFill>
            <a:srgbClr val="F0F4F8"/>
          </a:solidFill>
          <a:ln w="1016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4360" y="2057400"/>
            <a:ext cx="17373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447"/>
                </a:solidFill>
              </a:rPr>
              <a:t>Purpose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23160" y="1984248"/>
            <a:ext cx="44348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514600" y="2057400"/>
            <a:ext cx="42519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447"/>
                </a:solidFill>
              </a:rPr>
              <a:t>Standardizes a metric relative to mean and standard deviation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858000" y="1984248"/>
            <a:ext cx="44348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949440" y="2057400"/>
            <a:ext cx="42519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A999"/>
                </a:solidFill>
              </a:rPr>
              <a:t>Directly handles the two business objectives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02920" y="2807208"/>
            <a:ext cx="1920240" cy="822960"/>
          </a:xfrm>
          <a:prstGeom prst="rect">
            <a:avLst/>
          </a:prstGeom>
          <a:solidFill>
            <a:srgbClr val="F0F4F8"/>
          </a:solidFill>
          <a:ln w="1016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4360" y="2880360"/>
            <a:ext cx="17373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447"/>
                </a:solidFill>
              </a:rPr>
              <a:t>Business interpretation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423160" y="2807208"/>
            <a:ext cx="44348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514600" y="2880360"/>
            <a:ext cx="42519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447"/>
                </a:solidFill>
              </a:rPr>
              <a:t>“How many standard deviations from the mean?”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858000" y="2807208"/>
            <a:ext cx="44348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949440" y="2880360"/>
            <a:ext cx="42519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A999"/>
                </a:solidFill>
              </a:rPr>
              <a:t>“Higher Pickup, smaller Block Size Gap”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02920" y="3630168"/>
            <a:ext cx="1920240" cy="822960"/>
          </a:xfrm>
          <a:prstGeom prst="rect">
            <a:avLst/>
          </a:prstGeom>
          <a:solidFill>
            <a:srgbClr val="F0F4F8"/>
          </a:solidFill>
          <a:ln w="1016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4360" y="3703320"/>
            <a:ext cx="17373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447"/>
                </a:solidFill>
              </a:rPr>
              <a:t>Dependence on candidates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423160" y="3630168"/>
            <a:ext cx="44348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514600" y="3703320"/>
            <a:ext cx="42519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447"/>
                </a:solidFill>
              </a:rPr>
              <a:t>Mean / SD can shift with outliers or with the 15-day composition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858000" y="3630168"/>
            <a:ext cx="44348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49440" y="3703320"/>
            <a:ext cx="42519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A999"/>
                </a:solidFill>
              </a:rPr>
              <a:t>No mean or SD required; based on dominance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502920" y="4453128"/>
            <a:ext cx="1920240" cy="822960"/>
          </a:xfrm>
          <a:prstGeom prst="rect">
            <a:avLst/>
          </a:prstGeom>
          <a:solidFill>
            <a:srgbClr val="F0F4F8"/>
          </a:solidFill>
          <a:ln w="1016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94360" y="4526280"/>
            <a:ext cx="17373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447"/>
                </a:solidFill>
              </a:rPr>
              <a:t>Trade-off handling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23160" y="4453128"/>
            <a:ext cx="44348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514600" y="4526280"/>
            <a:ext cx="42519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447"/>
                </a:solidFill>
              </a:rPr>
              <a:t>Z-score alone does not resolve the conflict; thresholds or weights are still needed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858000" y="4453128"/>
            <a:ext cx="44348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949440" y="4526280"/>
            <a:ext cx="42519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A999"/>
                </a:solidFill>
              </a:rPr>
              <a:t>Keeps non-dominated trade-offs without weights upfront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502920" y="5276088"/>
            <a:ext cx="1920240" cy="822960"/>
          </a:xfrm>
          <a:prstGeom prst="rect">
            <a:avLst/>
          </a:prstGeom>
          <a:solidFill>
            <a:srgbClr val="F0F4F8"/>
          </a:solidFill>
          <a:ln w="1016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94360" y="5349240"/>
            <a:ext cx="17373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447"/>
                </a:solidFill>
              </a:rPr>
              <a:t>Recommended role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423160" y="5276088"/>
            <a:ext cx="44348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514600" y="5349240"/>
            <a:ext cx="42519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43447"/>
                </a:solidFill>
              </a:rPr>
              <a:t>Useful for standardization or anomaly screening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6858000" y="5276088"/>
            <a:ext cx="44348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949440" y="5349240"/>
            <a:ext cx="42519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0A999"/>
                </a:solidFill>
              </a:rPr>
              <a:t>Better fit for second-stage multi-objective candidate selection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731520" y="5989320"/>
            <a:ext cx="10744200" cy="438912"/>
          </a:xfrm>
          <a:prstGeom prst="round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914400" y="6089904"/>
            <a:ext cx="10378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Recommended flow:  KNN → 15 Candidates → Pareto Filtering → Business Constraint → Final Pick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r>
              <a:rPr sz="800">
                <a:solidFill>
                  <a:srgbClr val="5A677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8324A"/>
                </a:solidFill>
                <a:latin typeface="Aptos Display"/>
              </a:rPr>
              <a:t>3. Pareto Frontier: Keep Only Meaningful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775"/>
                </a:solidFill>
                <a:latin typeface="Aptos"/>
              </a:rPr>
              <a:t>A candidate is removed only when another candidate is better on both Pickup and Block Size Gap.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321040" cy="4983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reto_fanc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8001000" cy="392528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070848" y="1417320"/>
            <a:ext cx="2514600" cy="1417320"/>
          </a:xfrm>
          <a:prstGeom prst="roundRect">
            <a:avLst/>
          </a:prstGeom>
          <a:solidFill>
            <a:srgbClr val="ECF8F6"/>
          </a:solidFill>
          <a:ln w="15240">
            <a:solidFill>
              <a:srgbClr val="20A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/>
            <a:r>
              <a:rPr sz="1500" b="1">
                <a:solidFill>
                  <a:srgbClr val="20A999"/>
                </a:solidFill>
                <a:latin typeface="Aptos"/>
              </a:rPr>
              <a:t>Pareto-optimal</a:t>
            </a:r>
          </a:p>
          <a:p>
            <a:r>
              <a:rPr sz="1100">
                <a:solidFill>
                  <a:srgbClr val="18324A"/>
                </a:solidFill>
                <a:latin typeface="Aptos"/>
              </a:rPr>
              <a:t>A, B and C stay because each offers a different trade-off.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70848" y="3063240"/>
            <a:ext cx="2514600" cy="1417320"/>
          </a:xfrm>
          <a:prstGeom prst="roundRect">
            <a:avLst/>
          </a:prstGeom>
          <a:solidFill>
            <a:srgbClr val="FCF0EE"/>
          </a:solidFill>
          <a:ln w="15240">
            <a:solidFill>
              <a:srgbClr val="D9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/>
            <a:r>
              <a:rPr sz="1500" b="1">
                <a:solidFill>
                  <a:srgbClr val="B14D42"/>
                </a:solidFill>
                <a:latin typeface="Aptos"/>
              </a:rPr>
              <a:t>Dominated</a:t>
            </a:r>
          </a:p>
          <a:p>
            <a:r>
              <a:rPr sz="1100">
                <a:solidFill>
                  <a:srgbClr val="18324A"/>
                </a:solidFill>
                <a:latin typeface="Aptos"/>
              </a:rPr>
              <a:t>D is removed because B has both higher Pickup and a smaller Block Size Gap.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70848" y="4709160"/>
            <a:ext cx="2514600" cy="13258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7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/>
            <a:r>
              <a:rPr sz="1400" b="1">
                <a:solidFill>
                  <a:srgbClr val="18324A"/>
                </a:solidFill>
                <a:latin typeface="Aptos"/>
              </a:rPr>
              <a:t>Key takeaway</a:t>
            </a:r>
          </a:p>
          <a:p>
            <a:r>
              <a:rPr sz="1050">
                <a:solidFill>
                  <a:srgbClr val="5A6775"/>
                </a:solidFill>
                <a:latin typeface="Aptos"/>
              </a:rPr>
              <a:t>Pareto reduces the candidate set without forcing an arbitrary weight between the two objectives.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54864"/>
          </a:xfrm>
          <a:prstGeom prst="rect">
            <a:avLst/>
          </a:prstGeom>
          <a:solidFill>
            <a:srgbClr val="18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31168" y="656539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77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Pareto Multi-Objective Optimization for Similar-Day Selection</dc:title>
  <dc:subject>Hotel Pickup Similar-Day Selection</dc:subject>
  <dc:creator>OpenAI</dc:creator>
  <cp:lastModifiedBy>OpenAI</cp:lastModifiedBy>
  <cp:revision>1</cp:revision>
  <dcterms:created xsi:type="dcterms:W3CDTF">2026-09-30T03:38:19Z</dcterms:created>
  <dcterms:modified xsi:type="dcterms:W3CDTF">2026-09-30T03:38:19Z</dcterms:modified>
</cp:coreProperties>
</file>